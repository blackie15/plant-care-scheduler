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72"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13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Fill in the project title and all identity fields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Replace the block labels and arrows with your project's real components, and describe the data flow underneath.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Replace with your actual ER diagram or entity list if you have one — this is a placeholder 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Expand the flowchart to match your actual number of workflow steps.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slide is a repeatable template — duplicate it once per key functionality (Slide 11 onward) and swap in the real name, behavior, and screenshot.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8DB56-8999-4DA0-2376-C2069D785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3DE19-FD8E-E6DE-9580-0D9BB1EEAB1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8242435-6F33-B99C-2BBE-06E52068CF8E}"/>
              </a:ext>
            </a:extLst>
          </p:cNvPr>
          <p:cNvSpPr>
            <a:spLocks noGrp="1"/>
          </p:cNvSpPr>
          <p:nvPr>
            <p:ph type="body" idx="1"/>
          </p:nvPr>
        </p:nvSpPr>
        <p:spPr/>
        <p:txBody>
          <a:bodyPr/>
          <a:lstStyle/>
          <a:p>
            <a:r>
              <a:rPr lang="en-US" dirty="0"/>
              <a:t>This slide is a repeatable template — duplicate it once per key functionality (Slide 11 onward) and swap in the real name, behavior, and screenshot.</a:t>
            </a:r>
          </a:p>
        </p:txBody>
      </p:sp>
      <p:sp>
        <p:nvSpPr>
          <p:cNvPr id="4" name="Slide Number Placeholder 3">
            <a:extLst>
              <a:ext uri="{FF2B5EF4-FFF2-40B4-BE49-F238E27FC236}">
                <a16:creationId xmlns:a16="http://schemas.microsoft.com/office/drawing/2014/main" id="{94CF7AD5-A5AD-F835-262B-085C5F4A367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664172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44C38-7891-6CB9-1DE1-639B0E1BB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0F5E65-A32C-63E5-22EC-C5EEC09D85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0BEFA3-C083-0ADC-7382-5B9B3790B1FA}"/>
              </a:ext>
            </a:extLst>
          </p:cNvPr>
          <p:cNvSpPr>
            <a:spLocks noGrp="1"/>
          </p:cNvSpPr>
          <p:nvPr>
            <p:ph type="body" idx="1"/>
          </p:nvPr>
        </p:nvSpPr>
        <p:spPr/>
        <p:txBody>
          <a:bodyPr/>
          <a:lstStyle/>
          <a:p>
            <a:r>
              <a:rPr lang="en-US" dirty="0"/>
              <a:t>This slide is a repeatable template — duplicate it once per key functionality (Slide 11 onward) and swap in the real name, behavior, and screenshot.</a:t>
            </a:r>
          </a:p>
        </p:txBody>
      </p:sp>
      <p:sp>
        <p:nvSpPr>
          <p:cNvPr id="4" name="Slide Number Placeholder 3">
            <a:extLst>
              <a:ext uri="{FF2B5EF4-FFF2-40B4-BE49-F238E27FC236}">
                <a16:creationId xmlns:a16="http://schemas.microsoft.com/office/drawing/2014/main" id="{FF3FC70A-ED87-2076-7D73-06A4C3C6810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0997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114800" cy="4114800"/>
          </a:xfrm>
          <a:prstGeom prst="ellipse">
            <a:avLst/>
          </a:prstGeom>
          <a:solidFill>
            <a:srgbClr val="161C4D"/>
          </a:solidFill>
        </p:spPr>
        <p:txBody>
          <a:bodyPr/>
          <a:lstStyle/>
          <a:p>
            <a:endParaRPr lang="en-US"/>
          </a:p>
        </p:txBody>
      </p:sp>
      <p:sp>
        <p:nvSpPr>
          <p:cNvPr id="3" name="Shape 1"/>
          <p:cNvSpPr/>
          <p:nvPr/>
        </p:nvSpPr>
        <p:spPr>
          <a:xfrm>
            <a:off x="10607040" y="4754880"/>
            <a:ext cx="2926080" cy="2926080"/>
          </a:xfrm>
          <a:prstGeom prst="ellipse">
            <a:avLst/>
          </a:prstGeom>
          <a:solidFill>
            <a:srgbClr val="161C4D"/>
          </a:solidFill>
        </p:spPr>
        <p:txBody>
          <a:bodyPr/>
          <a:lstStyle/>
          <a:p>
            <a:endParaRPr lang="en-US"/>
          </a:p>
        </p:txBody>
      </p:sp>
      <p:sp>
        <p:nvSpPr>
          <p:cNvPr id="4" name="Text 2"/>
          <p:cNvSpPr/>
          <p:nvPr/>
        </p:nvSpPr>
        <p:spPr>
          <a:xfrm>
            <a:off x="548640" y="1399272"/>
            <a:ext cx="9144000" cy="365760"/>
          </a:xfrm>
          <a:prstGeom prst="rect">
            <a:avLst/>
          </a:prstGeom>
          <a:noFill/>
        </p:spPr>
        <p:txBody>
          <a:bodyPr wrap="square" lIns="0" tIns="0" rIns="0" bIns="0" rtlCol="0" anchor="ctr"/>
          <a:lstStyle/>
          <a:p>
            <a:pPr marL="0" indent="0">
              <a:buNone/>
            </a:pPr>
            <a:r>
              <a:rPr lang="en-US" sz="1300" b="1" kern="0" spc="200" dirty="0">
                <a:solidFill>
                  <a:srgbClr val="E8A33D"/>
                </a:solidFill>
                <a:latin typeface="Calibri" panose="020F0502020204030204" pitchFamily="34" charset="0"/>
                <a:ea typeface="Calibri" panose="020F0502020204030204" pitchFamily="34" charset="-122"/>
                <a:cs typeface="Calibri" panose="020F0502020204030204" pitchFamily="34" charset="-120"/>
              </a:rPr>
              <a:t>PROJECT REVIEW PRESENTATION</a:t>
            </a:r>
            <a:endParaRPr lang="en-US" sz="1300" dirty="0"/>
          </a:p>
        </p:txBody>
      </p:sp>
      <p:sp>
        <p:nvSpPr>
          <p:cNvPr id="5" name="Text 3"/>
          <p:cNvSpPr/>
          <p:nvPr/>
        </p:nvSpPr>
        <p:spPr>
          <a:xfrm>
            <a:off x="548640" y="1722120"/>
            <a:ext cx="10515600" cy="1097280"/>
          </a:xfrm>
          <a:prstGeom prst="rect">
            <a:avLst/>
          </a:prstGeom>
          <a:noFill/>
        </p:spPr>
        <p:txBody>
          <a:bodyPr wrap="square" lIns="0" tIns="0" rIns="0" bIns="0" rtlCol="0" anchor="ctr"/>
          <a:lstStyle/>
          <a:p>
            <a:r>
              <a:rPr lang="en-US" sz="4400" b="1" dirty="0">
                <a:solidFill>
                  <a:srgbClr val="FFFFFF"/>
                </a:solidFill>
                <a:latin typeface="Georgia" pitchFamily="34" charset="0"/>
                <a:ea typeface="Georgia" pitchFamily="34" charset="-122"/>
                <a:cs typeface="Georgia" pitchFamily="34" charset="-120"/>
              </a:rPr>
              <a:t>Plant Care Scheduler</a:t>
            </a:r>
          </a:p>
        </p:txBody>
      </p:sp>
      <p:sp>
        <p:nvSpPr>
          <p:cNvPr id="6" name="Shape 4"/>
          <p:cNvSpPr/>
          <p:nvPr/>
        </p:nvSpPr>
        <p:spPr>
          <a:xfrm>
            <a:off x="548640" y="3246120"/>
            <a:ext cx="2743200" cy="0"/>
          </a:xfrm>
          <a:prstGeom prst="line">
            <a:avLst/>
          </a:prstGeom>
          <a:noFill/>
          <a:ln w="12700">
            <a:solidFill>
              <a:srgbClr val="CADCFC"/>
            </a:solidFill>
            <a:prstDash val="solid"/>
          </a:ln>
        </p:spPr>
        <p:txBody>
          <a:bodyPr/>
          <a:lstStyle/>
          <a:p>
            <a:endParaRPr lang="en-US"/>
          </a:p>
        </p:txBody>
      </p:sp>
      <p:sp>
        <p:nvSpPr>
          <p:cNvPr id="7" name="Text 5"/>
          <p:cNvSpPr/>
          <p:nvPr/>
        </p:nvSpPr>
        <p:spPr>
          <a:xfrm>
            <a:off x="548640" y="3520440"/>
            <a:ext cx="7315200" cy="2194560"/>
          </a:xfrm>
          <a:prstGeom prst="rect">
            <a:avLst/>
          </a:prstGeom>
          <a:noFill/>
        </p:spPr>
        <p:txBody>
          <a:bodyPr wrap="square" lIns="0" tIns="0" rIns="0" bIns="0" rtlCol="0" anchor="ctr"/>
          <a:lstStyle/>
          <a:p>
            <a:pPr marL="0" indent="0">
              <a:lnSpc>
                <a:spcPct val="160000"/>
              </a:lnSpc>
              <a:buNone/>
            </a:pP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Student name: </a:t>
            </a: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Suchitra K M</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Register / roll number: </a:t>
            </a:r>
            <a:r>
              <a:rPr lang="en-US" sz="1400" b="1" dirty="0">
                <a:solidFill>
                  <a:schemeClr val="bg1">
                    <a:lumMod val="95000"/>
                  </a:schemeClr>
                </a:solidFill>
                <a:latin typeface="Calibri" panose="020F0502020204030204" pitchFamily="34" charset="0"/>
                <a:ea typeface="Calibri" panose="020F0502020204030204" pitchFamily="34" charset="-122"/>
                <a:cs typeface="Calibri" panose="020F0502020204030204" pitchFamily="34" charset="-120"/>
              </a:rPr>
              <a:t>2403727715022051</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Class / section: </a:t>
            </a: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CSD - A</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Guide / trainer: </a:t>
            </a:r>
            <a:r>
              <a:rPr lang="en-US" sz="1400" b="1" dirty="0">
                <a:solidFill>
                  <a:schemeClr val="bg1">
                    <a:lumMod val="95000"/>
                  </a:schemeClr>
                </a:solidFill>
                <a:latin typeface="Calibri" panose="020F0502020204030204" pitchFamily="34" charset="0"/>
                <a:ea typeface="Calibri" panose="020F0502020204030204" pitchFamily="34" charset="-122"/>
                <a:cs typeface="Calibri" panose="020F0502020204030204" pitchFamily="34" charset="-120"/>
              </a:rPr>
              <a:t>Mariselvam</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Course / subject: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App Development</a:t>
            </a:r>
            <a:endParaRPr lang="en-US" sz="1400" b="1" dirty="0"/>
          </a:p>
        </p:txBody>
      </p:sp>
      <p:sp>
        <p:nvSpPr>
          <p:cNvPr id="10" name="Text 2">
            <a:extLst>
              <a:ext uri="{FF2B5EF4-FFF2-40B4-BE49-F238E27FC236}">
                <a16:creationId xmlns:a16="http://schemas.microsoft.com/office/drawing/2014/main" id="{7ECA27CA-CF64-B131-5A02-8D319AA61FB7}"/>
              </a:ext>
            </a:extLst>
          </p:cNvPr>
          <p:cNvSpPr/>
          <p:nvPr/>
        </p:nvSpPr>
        <p:spPr>
          <a:xfrm>
            <a:off x="548640" y="2773680"/>
            <a:ext cx="9144000" cy="365760"/>
          </a:xfrm>
          <a:prstGeom prst="rect">
            <a:avLst/>
          </a:prstGeom>
          <a:noFill/>
        </p:spPr>
        <p:txBody>
          <a:bodyPr wrap="square" lIns="0" tIns="0" rIns="0" bIns="0" rtlCol="0" anchor="ctr"/>
          <a:lstStyle/>
          <a:p>
            <a:r>
              <a:rPr lang="en-US" sz="1400" i="1" dirty="0">
                <a:solidFill>
                  <a:srgbClr val="E8A33D"/>
                </a:solidFill>
                <a:latin typeface="Calibri" pitchFamily="34" charset="0"/>
                <a:ea typeface="Calibri" pitchFamily="34" charset="-122"/>
                <a:cs typeface="Calibri" pitchFamily="34" charset="-120"/>
              </a:rPr>
              <a:t>Every plant gets a medical record.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OVERVIEW</a:t>
            </a:r>
            <a:endParaRPr lang="en-US" sz="1300" dirty="0"/>
          </a:p>
        </p:txBody>
      </p:sp>
      <p:sp>
        <p:nvSpPr>
          <p:cNvPr id="5" name="Shape 3"/>
          <p:cNvSpPr/>
          <p:nvPr/>
        </p:nvSpPr>
        <p:spPr>
          <a:xfrm>
            <a:off x="548640" y="1463040"/>
            <a:ext cx="11091672" cy="1417320"/>
          </a:xfrm>
          <a:prstGeom prst="roundRect">
            <a:avLst>
              <a:gd name="adj" fmla="val 5161"/>
            </a:avLst>
          </a:prstGeom>
          <a:solidFill>
            <a:srgbClr val="EEF3FD"/>
          </a:solidFill>
          <a:ln w="12700">
            <a:solidFill>
              <a:srgbClr val="CADCFC"/>
            </a:solidFill>
            <a:prstDash val="solid"/>
          </a:ln>
        </p:spPr>
        <p:txBody>
          <a:bodyPr/>
          <a:lstStyle/>
          <a:p>
            <a:endParaRPr lang="en-US"/>
          </a:p>
        </p:txBody>
      </p:sp>
      <p:sp>
        <p:nvSpPr>
          <p:cNvPr id="6" name="Text 4"/>
          <p:cNvSpPr/>
          <p:nvPr/>
        </p:nvSpPr>
        <p:spPr>
          <a:xfrm>
            <a:off x="868680" y="1627632"/>
            <a:ext cx="2926080" cy="1088136"/>
          </a:xfrm>
          <a:prstGeom prst="rect">
            <a:avLst/>
          </a:prstGeom>
          <a:noFill/>
        </p:spPr>
        <p:txBody>
          <a:bodyPr wrap="square" lIns="0" tIns="0" rIns="0" bIns="0" rtlCol="0" anchor="ctr"/>
          <a:lstStyle/>
          <a:p>
            <a:pPr marL="0" indent="0">
              <a:buNone/>
            </a:pPr>
            <a:r>
              <a:rPr lang="en-US" sz="1450" b="1" dirty="0">
                <a:solidFill>
                  <a:srgbClr val="1E2761"/>
                </a:solidFill>
                <a:latin typeface="Calibri" panose="020F0502020204030204" pitchFamily="34" charset="0"/>
                <a:ea typeface="Calibri" panose="020F0502020204030204" pitchFamily="34" charset="-122"/>
                <a:cs typeface="Calibri" panose="020F0502020204030204" pitchFamily="34" charset="-120"/>
              </a:rPr>
              <a:t>Introduction</a:t>
            </a:r>
            <a:endParaRPr lang="en-US" sz="1450" dirty="0"/>
          </a:p>
        </p:txBody>
      </p:sp>
      <p:sp>
        <p:nvSpPr>
          <p:cNvPr id="7" name="Text 5"/>
          <p:cNvSpPr/>
          <p:nvPr/>
        </p:nvSpPr>
        <p:spPr>
          <a:xfrm>
            <a:off x="3749039" y="1627632"/>
            <a:ext cx="7667643" cy="1033272"/>
          </a:xfrm>
          <a:prstGeom prst="rect">
            <a:avLst/>
          </a:prstGeom>
          <a:noFill/>
        </p:spPr>
        <p:txBody>
          <a:bodyPr wrap="square" lIns="0" tIns="0" rIns="0" bIns="0" rtlCol="0" anchor="ctr"/>
          <a:lstStyle/>
          <a:p>
            <a:pPr>
              <a:lnSpc>
                <a:spcPct val="115000"/>
              </a:lnSpc>
            </a:pPr>
            <a:r>
              <a:rPr lang="en-US" sz="1400" i="1" dirty="0">
                <a:solidFill>
                  <a:srgbClr val="1F2937"/>
                </a:solidFill>
                <a:latin typeface="Calibri" pitchFamily="34" charset="0"/>
                <a:ea typeface="Calibri" pitchFamily="34" charset="-122"/>
                <a:cs typeface="Calibri" pitchFamily="34" charset="-120"/>
              </a:rPr>
              <a:t>Plant Care Scheduler gives every plant a medical record. One platform ties species-based care schedules, health diagnostics, environmental readings and specialist consultations to each individual plant — so nothing about its care is ever only in someone's memory.</a:t>
            </a:r>
            <a:endParaRPr lang="en-US" sz="1400" i="1" dirty="0"/>
          </a:p>
        </p:txBody>
      </p:sp>
      <p:sp>
        <p:nvSpPr>
          <p:cNvPr id="8" name="Shape 6"/>
          <p:cNvSpPr/>
          <p:nvPr/>
        </p:nvSpPr>
        <p:spPr>
          <a:xfrm>
            <a:off x="548640" y="3017520"/>
            <a:ext cx="11091672" cy="1417320"/>
          </a:xfrm>
          <a:prstGeom prst="roundRect">
            <a:avLst>
              <a:gd name="adj" fmla="val 5161"/>
            </a:avLst>
          </a:prstGeom>
          <a:solidFill>
            <a:srgbClr val="FFFFFF"/>
          </a:solidFill>
          <a:ln w="12700">
            <a:solidFill>
              <a:srgbClr val="CADCFC"/>
            </a:solidFill>
            <a:prstDash val="solid"/>
          </a:ln>
        </p:spPr>
        <p:txBody>
          <a:bodyPr/>
          <a:lstStyle/>
          <a:p>
            <a:endParaRPr lang="en-US" dirty="0"/>
          </a:p>
        </p:txBody>
      </p:sp>
      <p:sp>
        <p:nvSpPr>
          <p:cNvPr id="9" name="Text 7"/>
          <p:cNvSpPr/>
          <p:nvPr/>
        </p:nvSpPr>
        <p:spPr>
          <a:xfrm>
            <a:off x="868680" y="3182112"/>
            <a:ext cx="2926080" cy="1088136"/>
          </a:xfrm>
          <a:prstGeom prst="rect">
            <a:avLst/>
          </a:prstGeom>
          <a:noFill/>
        </p:spPr>
        <p:txBody>
          <a:bodyPr wrap="square" lIns="0" tIns="0" rIns="0" bIns="0" rtlCol="0" anchor="ctr"/>
          <a:lstStyle/>
          <a:p>
            <a:pPr marL="0" indent="0">
              <a:buNone/>
            </a:pPr>
            <a:r>
              <a:rPr lang="en-US" sz="1450" b="1" dirty="0">
                <a:solidFill>
                  <a:srgbClr val="1E2761"/>
                </a:solidFill>
                <a:latin typeface="Calibri" panose="020F0502020204030204" pitchFamily="34" charset="0"/>
                <a:ea typeface="Calibri" panose="020F0502020204030204" pitchFamily="34" charset="-122"/>
                <a:cs typeface="Calibri" panose="020F0502020204030204" pitchFamily="34" charset="-120"/>
              </a:rPr>
              <a:t>Problem addressed</a:t>
            </a:r>
            <a:endParaRPr lang="en-US" sz="1450" dirty="0"/>
          </a:p>
        </p:txBody>
      </p:sp>
      <p:sp>
        <p:nvSpPr>
          <p:cNvPr id="10" name="Text 8"/>
          <p:cNvSpPr/>
          <p:nvPr/>
        </p:nvSpPr>
        <p:spPr>
          <a:xfrm>
            <a:off x="3749040" y="3182112"/>
            <a:ext cx="7574280" cy="1088136"/>
          </a:xfrm>
          <a:prstGeom prst="rect">
            <a:avLst/>
          </a:prstGeom>
          <a:noFill/>
        </p:spPr>
        <p:txBody>
          <a:bodyPr wrap="square" lIns="0" tIns="0" rIns="0" bIns="0" rtlCol="0" anchor="ctr"/>
          <a:lstStyle/>
          <a:p>
            <a:pPr>
              <a:lnSpc>
                <a:spcPct val="115000"/>
              </a:lnSpc>
            </a:pPr>
            <a:r>
              <a:rPr lang="en-US" sz="1400" i="1" dirty="0">
                <a:solidFill>
                  <a:srgbClr val="1F2937"/>
                </a:solidFill>
                <a:latin typeface="Calibri" pitchFamily="34" charset="0"/>
                <a:ea typeface="Calibri" pitchFamily="34" charset="-122"/>
                <a:cs typeface="Calibri" pitchFamily="34" charset="-120"/>
              </a:rPr>
              <a:t>Plants rarely die suddenly — they decline over weeks of slightly-too-little light or slightly-too-dry soil, and by the time it shows, the cause is a month in the past with no record of it. That's not a scheduling problem. It's a memory problem, and no reminder app solves it.</a:t>
            </a:r>
            <a:endParaRPr lang="en-US" sz="1400" i="1" dirty="0"/>
          </a:p>
        </p:txBody>
      </p:sp>
      <p:sp>
        <p:nvSpPr>
          <p:cNvPr id="11" name="Shape 9"/>
          <p:cNvSpPr/>
          <p:nvPr/>
        </p:nvSpPr>
        <p:spPr>
          <a:xfrm>
            <a:off x="548640" y="4572000"/>
            <a:ext cx="11091672" cy="1417320"/>
          </a:xfrm>
          <a:prstGeom prst="roundRect">
            <a:avLst>
              <a:gd name="adj" fmla="val 5161"/>
            </a:avLst>
          </a:prstGeom>
          <a:solidFill>
            <a:srgbClr val="EEF3FD"/>
          </a:solidFill>
          <a:ln w="12700">
            <a:solidFill>
              <a:srgbClr val="CADCFC"/>
            </a:solidFill>
            <a:prstDash val="solid"/>
          </a:ln>
        </p:spPr>
        <p:txBody>
          <a:bodyPr/>
          <a:lstStyle/>
          <a:p>
            <a:endParaRPr lang="en-US"/>
          </a:p>
        </p:txBody>
      </p:sp>
      <p:sp>
        <p:nvSpPr>
          <p:cNvPr id="12" name="Text 10"/>
          <p:cNvSpPr/>
          <p:nvPr/>
        </p:nvSpPr>
        <p:spPr>
          <a:xfrm>
            <a:off x="868680" y="4736592"/>
            <a:ext cx="2926080" cy="1088136"/>
          </a:xfrm>
          <a:prstGeom prst="rect">
            <a:avLst/>
          </a:prstGeom>
          <a:noFill/>
        </p:spPr>
        <p:txBody>
          <a:bodyPr wrap="square" lIns="0" tIns="0" rIns="0" bIns="0" rtlCol="0" anchor="ctr"/>
          <a:lstStyle/>
          <a:p>
            <a:pPr marL="0" indent="0">
              <a:buNone/>
            </a:pPr>
            <a:r>
              <a:rPr lang="en-US" sz="1450" b="1" dirty="0">
                <a:solidFill>
                  <a:srgbClr val="1E2761"/>
                </a:solidFill>
                <a:latin typeface="Calibri" panose="020F0502020204030204" pitchFamily="34" charset="0"/>
                <a:ea typeface="Calibri" panose="020F0502020204030204" pitchFamily="34" charset="-122"/>
                <a:cs typeface="Calibri" panose="020F0502020204030204" pitchFamily="34" charset="-120"/>
              </a:rPr>
              <a:t>Purpose</a:t>
            </a:r>
            <a:endParaRPr lang="en-US" sz="1450" dirty="0"/>
          </a:p>
        </p:txBody>
      </p:sp>
      <p:sp>
        <p:nvSpPr>
          <p:cNvPr id="13" name="Text 11"/>
          <p:cNvSpPr/>
          <p:nvPr/>
        </p:nvSpPr>
        <p:spPr>
          <a:xfrm>
            <a:off x="3749040" y="4736592"/>
            <a:ext cx="7574280" cy="1088136"/>
          </a:xfrm>
          <a:prstGeom prst="rect">
            <a:avLst/>
          </a:prstGeom>
          <a:noFill/>
        </p:spPr>
        <p:txBody>
          <a:bodyPr wrap="square" lIns="0" tIns="0" rIns="0" bIns="0" rtlCol="0" anchor="ctr"/>
          <a:lstStyle/>
          <a:p>
            <a:pPr>
              <a:lnSpc>
                <a:spcPct val="115000"/>
              </a:lnSpc>
            </a:pPr>
            <a:r>
              <a:rPr lang="en-US" sz="1400" i="1" dirty="0">
                <a:solidFill>
                  <a:srgbClr val="1F2937"/>
                </a:solidFill>
                <a:latin typeface="Calibri" pitchFamily="34" charset="0"/>
                <a:ea typeface="Calibri" pitchFamily="34" charset="-122"/>
                <a:cs typeface="Calibri" pitchFamily="34" charset="-120"/>
              </a:rPr>
              <a:t>To turn plant care from a set of alarms into a longitudinal record — one a specialist can actually read — so problems are caught from the history instead of guessed at from a single bad-looking leaf.</a:t>
            </a:r>
            <a:endParaRPr lang="en-US" sz="1400" i="1" dirty="0"/>
          </a:p>
        </p:txBody>
      </p:sp>
      <p:sp>
        <p:nvSpPr>
          <p:cNvPr id="14" name="Text 12"/>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solidFill>
                <a:schemeClr val="tx1">
                  <a:lumMod val="50000"/>
                  <a:lumOff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PROBLEM STATEMENT</a:t>
            </a:r>
            <a:endParaRPr lang="en-US" sz="1300" dirty="0"/>
          </a:p>
        </p:txBody>
      </p:sp>
      <p:sp>
        <p:nvSpPr>
          <p:cNvPr id="5" name="Shape 3"/>
          <p:cNvSpPr/>
          <p:nvPr/>
        </p:nvSpPr>
        <p:spPr>
          <a:xfrm>
            <a:off x="548640" y="1463040"/>
            <a:ext cx="11091672" cy="1417320"/>
          </a:xfrm>
          <a:prstGeom prst="roundRect">
            <a:avLst>
              <a:gd name="adj" fmla="val 5161"/>
            </a:avLst>
          </a:prstGeom>
          <a:solidFill>
            <a:srgbClr val="EEF3FD"/>
          </a:solidFill>
          <a:ln w="12700">
            <a:solidFill>
              <a:srgbClr val="CADCFC"/>
            </a:solidFill>
            <a:prstDash val="solid"/>
          </a:ln>
        </p:spPr>
        <p:txBody>
          <a:bodyPr/>
          <a:lstStyle/>
          <a:p>
            <a:endParaRPr lang="en-US"/>
          </a:p>
        </p:txBody>
      </p:sp>
      <p:sp>
        <p:nvSpPr>
          <p:cNvPr id="6" name="Text 4"/>
          <p:cNvSpPr/>
          <p:nvPr/>
        </p:nvSpPr>
        <p:spPr>
          <a:xfrm>
            <a:off x="868680" y="1627632"/>
            <a:ext cx="3291840" cy="1088136"/>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Existing problem</a:t>
            </a:r>
            <a:endParaRPr lang="en-US" sz="1400" dirty="0"/>
          </a:p>
        </p:txBody>
      </p:sp>
      <p:sp>
        <p:nvSpPr>
          <p:cNvPr id="7" name="Text 5"/>
          <p:cNvSpPr/>
          <p:nvPr/>
        </p:nvSpPr>
        <p:spPr>
          <a:xfrm>
            <a:off x="4114800" y="1627632"/>
            <a:ext cx="7208520" cy="1088136"/>
          </a:xfrm>
          <a:prstGeom prst="rect">
            <a:avLst/>
          </a:prstGeom>
          <a:noFill/>
        </p:spPr>
        <p:txBody>
          <a:bodyPr wrap="square" lIns="0" tIns="0" rIns="0" bIns="0" rtlCol="0" anchor="ctr"/>
          <a:lstStyle/>
          <a:p>
            <a:pPr>
              <a:lnSpc>
                <a:spcPct val="115000"/>
              </a:lnSpc>
            </a:pPr>
            <a:r>
              <a:rPr lang="en-US" sz="1400" i="1" dirty="0">
                <a:solidFill>
                  <a:srgbClr val="1F2937"/>
                </a:solidFill>
                <a:latin typeface="Calibri" pitchFamily="34" charset="0"/>
                <a:ea typeface="Calibri" pitchFamily="34" charset="-122"/>
                <a:cs typeface="Calibri" pitchFamily="34" charset="-120"/>
              </a:rPr>
              <a:t>Every plant app on the market is an alarm clock — it rings when told to ring. It doesn't know the species, what the plant's been through, or why it's struggling now. Symptoms and readings are never logged, so the cause is invisible by the time it matters.</a:t>
            </a:r>
            <a:endParaRPr lang="en-US" sz="1400" i="1" dirty="0"/>
          </a:p>
        </p:txBody>
      </p:sp>
      <p:sp>
        <p:nvSpPr>
          <p:cNvPr id="8" name="Shape 6"/>
          <p:cNvSpPr/>
          <p:nvPr/>
        </p:nvSpPr>
        <p:spPr>
          <a:xfrm>
            <a:off x="548640" y="3017520"/>
            <a:ext cx="11091672" cy="1417320"/>
          </a:xfrm>
          <a:prstGeom prst="roundRect">
            <a:avLst>
              <a:gd name="adj" fmla="val 5161"/>
            </a:avLst>
          </a:prstGeom>
          <a:solidFill>
            <a:srgbClr val="FFFFFF"/>
          </a:solidFill>
          <a:ln w="12700">
            <a:solidFill>
              <a:srgbClr val="CADCFC"/>
            </a:solidFill>
            <a:prstDash val="solid"/>
          </a:ln>
        </p:spPr>
        <p:txBody>
          <a:bodyPr/>
          <a:lstStyle/>
          <a:p>
            <a:endParaRPr lang="en-US"/>
          </a:p>
        </p:txBody>
      </p:sp>
      <p:sp>
        <p:nvSpPr>
          <p:cNvPr id="9" name="Text 7"/>
          <p:cNvSpPr/>
          <p:nvPr/>
        </p:nvSpPr>
        <p:spPr>
          <a:xfrm>
            <a:off x="868680" y="3182112"/>
            <a:ext cx="3291840" cy="1088136"/>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Limitations of current approach</a:t>
            </a:r>
            <a:endParaRPr lang="en-US" sz="1400" dirty="0"/>
          </a:p>
        </p:txBody>
      </p:sp>
      <p:sp>
        <p:nvSpPr>
          <p:cNvPr id="10" name="Text 8"/>
          <p:cNvSpPr/>
          <p:nvPr/>
        </p:nvSpPr>
        <p:spPr>
          <a:xfrm>
            <a:off x="4114800" y="3182112"/>
            <a:ext cx="7008920" cy="1088136"/>
          </a:xfrm>
          <a:prstGeom prst="rect">
            <a:avLst/>
          </a:prstGeom>
          <a:noFill/>
        </p:spPr>
        <p:txBody>
          <a:bodyPr wrap="square" lIns="0" tIns="0" rIns="0" bIns="0" rtlCol="0" anchor="ctr"/>
          <a:lstStyle/>
          <a:p>
            <a:pPr>
              <a:lnSpc>
                <a:spcPct val="115000"/>
              </a:lnSpc>
            </a:pPr>
            <a:r>
              <a:rPr lang="en-US" sz="1400" i="1" dirty="0">
                <a:solidFill>
                  <a:srgbClr val="1F2937"/>
                </a:solidFill>
                <a:latin typeface="Calibri" pitchFamily="34" charset="0"/>
                <a:ea typeface="Calibri" pitchFamily="34" charset="-122"/>
                <a:cs typeface="Calibri" pitchFamily="34" charset="-120"/>
              </a:rPr>
              <a:t>Reminder apps carry no botanical knowledge and no history. Identification apps stop at a single photo. Neither keeps a per-plant timeline, neither understands environmental context, and neither gives a specialist anything to actually review.</a:t>
            </a:r>
            <a:endParaRPr lang="en-US" sz="1400" i="1" dirty="0"/>
          </a:p>
        </p:txBody>
      </p:sp>
      <p:sp>
        <p:nvSpPr>
          <p:cNvPr id="11" name="Shape 9"/>
          <p:cNvSpPr/>
          <p:nvPr/>
        </p:nvSpPr>
        <p:spPr>
          <a:xfrm>
            <a:off x="548640" y="4572000"/>
            <a:ext cx="11091672" cy="1417320"/>
          </a:xfrm>
          <a:prstGeom prst="roundRect">
            <a:avLst>
              <a:gd name="adj" fmla="val 5161"/>
            </a:avLst>
          </a:prstGeom>
          <a:solidFill>
            <a:srgbClr val="EEF3FD"/>
          </a:solidFill>
          <a:ln w="12700">
            <a:solidFill>
              <a:srgbClr val="CADCFC"/>
            </a:solidFill>
            <a:prstDash val="solid"/>
          </a:ln>
        </p:spPr>
        <p:txBody>
          <a:bodyPr/>
          <a:lstStyle/>
          <a:p>
            <a:endParaRPr lang="en-US"/>
          </a:p>
        </p:txBody>
      </p:sp>
      <p:sp>
        <p:nvSpPr>
          <p:cNvPr id="12" name="Text 10"/>
          <p:cNvSpPr/>
          <p:nvPr/>
        </p:nvSpPr>
        <p:spPr>
          <a:xfrm>
            <a:off x="868680" y="4736592"/>
            <a:ext cx="3291840" cy="1088136"/>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Why this project is required</a:t>
            </a:r>
            <a:endParaRPr lang="en-US" sz="1400" dirty="0"/>
          </a:p>
        </p:txBody>
      </p:sp>
      <p:sp>
        <p:nvSpPr>
          <p:cNvPr id="13" name="Text 11"/>
          <p:cNvSpPr/>
          <p:nvPr/>
        </p:nvSpPr>
        <p:spPr>
          <a:xfrm>
            <a:off x="4114800" y="4736592"/>
            <a:ext cx="7008920" cy="1088136"/>
          </a:xfrm>
          <a:prstGeom prst="rect">
            <a:avLst/>
          </a:prstGeom>
          <a:noFill/>
        </p:spPr>
        <p:txBody>
          <a:bodyPr wrap="square" lIns="0" tIns="0" rIns="0" bIns="0" rtlCol="0" anchor="ctr"/>
          <a:lstStyle/>
          <a:p>
            <a:pPr>
              <a:lnSpc>
                <a:spcPct val="115000"/>
              </a:lnSpc>
            </a:pPr>
            <a:r>
              <a:rPr lang="en-US" sz="1400" i="1" dirty="0">
                <a:solidFill>
                  <a:srgbClr val="1F2937"/>
                </a:solidFill>
                <a:latin typeface="Calibri" pitchFamily="34" charset="0"/>
                <a:ea typeface="Calibri" pitchFamily="34" charset="-122"/>
                <a:cs typeface="Calibri" pitchFamily="34" charset="-120"/>
              </a:rPr>
              <a:t>An alarm clock tells you when. A record tells you why. This project builds the record — species-derived schedules, health history, environmental logs and specialist access — all attached to the same plant, under one secured platform.</a:t>
            </a:r>
            <a:endParaRPr lang="en-US" sz="1400" i="1" dirty="0"/>
          </a:p>
        </p:txBody>
      </p:sp>
      <p:sp>
        <p:nvSpPr>
          <p:cNvPr id="14" name="Text 12"/>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OBJECTIVES</a:t>
            </a:r>
            <a:endParaRPr lang="en-US" sz="1300" dirty="0"/>
          </a:p>
        </p:txBody>
      </p:sp>
      <p:sp>
        <p:nvSpPr>
          <p:cNvPr id="5" name="Shape 3"/>
          <p:cNvSpPr/>
          <p:nvPr/>
        </p:nvSpPr>
        <p:spPr>
          <a:xfrm>
            <a:off x="548640" y="1417320"/>
            <a:ext cx="5349240" cy="4754880"/>
          </a:xfrm>
          <a:prstGeom prst="roundRect">
            <a:avLst>
              <a:gd name="adj" fmla="val 1923"/>
            </a:avLst>
          </a:prstGeom>
          <a:solidFill>
            <a:srgbClr val="EEF3FD"/>
          </a:solidFill>
        </p:spPr>
        <p:txBody>
          <a:bodyPr/>
          <a:lstStyle/>
          <a:p>
            <a:endParaRPr lang="en-US"/>
          </a:p>
        </p:txBody>
      </p:sp>
      <p:sp>
        <p:nvSpPr>
          <p:cNvPr id="6" name="Text 4"/>
          <p:cNvSpPr/>
          <p:nvPr/>
        </p:nvSpPr>
        <p:spPr>
          <a:xfrm>
            <a:off x="822960" y="1645920"/>
            <a:ext cx="480060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Key objectives</a:t>
            </a:r>
            <a:endParaRPr lang="en-US" sz="1500" dirty="0"/>
          </a:p>
        </p:txBody>
      </p:sp>
      <p:sp>
        <p:nvSpPr>
          <p:cNvPr id="7" name="Shape 5"/>
          <p:cNvSpPr/>
          <p:nvPr/>
        </p:nvSpPr>
        <p:spPr>
          <a:xfrm>
            <a:off x="868680" y="2267712"/>
            <a:ext cx="100584" cy="100584"/>
          </a:xfrm>
          <a:prstGeom prst="ellipse">
            <a:avLst/>
          </a:prstGeom>
          <a:solidFill>
            <a:srgbClr val="E8A33D"/>
          </a:solidFill>
        </p:spPr>
        <p:txBody>
          <a:bodyPr/>
          <a:lstStyle/>
          <a:p>
            <a:endParaRPr lang="en-US"/>
          </a:p>
        </p:txBody>
      </p:sp>
      <p:sp>
        <p:nvSpPr>
          <p:cNvPr id="8" name="Text 6"/>
          <p:cNvSpPr/>
          <p:nvPr/>
        </p:nvSpPr>
        <p:spPr>
          <a:xfrm>
            <a:off x="1124712" y="2139696"/>
            <a:ext cx="4681728" cy="640080"/>
          </a:xfrm>
          <a:prstGeom prst="rect">
            <a:avLst/>
          </a:prstGeom>
          <a:noFill/>
        </p:spPr>
        <p:txBody>
          <a:bodyPr wrap="square" lIns="0" tIns="0" rIns="0" bIns="0" rtlCol="0" anchor="t"/>
          <a:lstStyle/>
          <a:p>
            <a:r>
              <a:rPr lang="en-US" sz="1400" dirty="0"/>
              <a:t>Develop a centralized platform to manage plants and care activities.</a:t>
            </a:r>
            <a:endParaRPr lang="en-US" sz="1300" dirty="0"/>
          </a:p>
        </p:txBody>
      </p:sp>
      <p:sp>
        <p:nvSpPr>
          <p:cNvPr id="9" name="Shape 7"/>
          <p:cNvSpPr/>
          <p:nvPr/>
        </p:nvSpPr>
        <p:spPr>
          <a:xfrm>
            <a:off x="868680" y="2907792"/>
            <a:ext cx="100584" cy="100584"/>
          </a:xfrm>
          <a:prstGeom prst="ellipse">
            <a:avLst/>
          </a:prstGeom>
          <a:solidFill>
            <a:srgbClr val="E8A33D"/>
          </a:solidFill>
        </p:spPr>
        <p:txBody>
          <a:bodyPr/>
          <a:lstStyle/>
          <a:p>
            <a:endParaRPr lang="en-US"/>
          </a:p>
        </p:txBody>
      </p:sp>
      <p:sp>
        <p:nvSpPr>
          <p:cNvPr id="10" name="Text 8"/>
          <p:cNvSpPr/>
          <p:nvPr/>
        </p:nvSpPr>
        <p:spPr>
          <a:xfrm>
            <a:off x="1124712" y="2779776"/>
            <a:ext cx="4681728" cy="640080"/>
          </a:xfrm>
          <a:prstGeom prst="rect">
            <a:avLst/>
          </a:prstGeom>
          <a:noFill/>
        </p:spPr>
        <p:txBody>
          <a:bodyPr wrap="square" lIns="0" tIns="0" rIns="0" bIns="0" rtlCol="0" anchor="t"/>
          <a:lstStyle/>
          <a:p>
            <a:r>
              <a:rPr lang="en-US" sz="1400" dirty="0"/>
              <a:t>Provide species-based care scheduling for watering, fertilizing, and other activities.</a:t>
            </a:r>
            <a:endParaRPr lang="en-US" sz="1300" dirty="0"/>
          </a:p>
        </p:txBody>
      </p:sp>
      <p:sp>
        <p:nvSpPr>
          <p:cNvPr id="11" name="Shape 9"/>
          <p:cNvSpPr/>
          <p:nvPr/>
        </p:nvSpPr>
        <p:spPr>
          <a:xfrm>
            <a:off x="868680" y="3547872"/>
            <a:ext cx="100584" cy="100584"/>
          </a:xfrm>
          <a:prstGeom prst="ellipse">
            <a:avLst/>
          </a:prstGeom>
          <a:solidFill>
            <a:srgbClr val="E8A33D"/>
          </a:solidFill>
        </p:spPr>
        <p:txBody>
          <a:bodyPr/>
          <a:lstStyle/>
          <a:p>
            <a:endParaRPr lang="en-US"/>
          </a:p>
        </p:txBody>
      </p:sp>
      <p:sp>
        <p:nvSpPr>
          <p:cNvPr id="12" name="Text 10"/>
          <p:cNvSpPr/>
          <p:nvPr/>
        </p:nvSpPr>
        <p:spPr>
          <a:xfrm>
            <a:off x="1124712" y="4058412"/>
            <a:ext cx="4681728" cy="640080"/>
          </a:xfrm>
          <a:prstGeom prst="rect">
            <a:avLst/>
          </a:prstGeom>
          <a:noFill/>
        </p:spPr>
        <p:txBody>
          <a:bodyPr wrap="square" lIns="0" tIns="0" rIns="0" bIns="0" rtlCol="0" anchor="t"/>
          <a:lstStyle/>
          <a:p>
            <a:pPr lvl="0"/>
            <a:r>
              <a:rPr lang="en-US" sz="1400" dirty="0"/>
              <a:t>Enable users to connect with specialists through consultations and community interaction. </a:t>
            </a:r>
          </a:p>
        </p:txBody>
      </p:sp>
      <p:sp>
        <p:nvSpPr>
          <p:cNvPr id="13" name="Shape 11"/>
          <p:cNvSpPr/>
          <p:nvPr/>
        </p:nvSpPr>
        <p:spPr>
          <a:xfrm>
            <a:off x="868680" y="4187952"/>
            <a:ext cx="100584" cy="100584"/>
          </a:xfrm>
          <a:prstGeom prst="ellipse">
            <a:avLst/>
          </a:prstGeom>
          <a:solidFill>
            <a:srgbClr val="E8A33D"/>
          </a:solidFill>
        </p:spPr>
        <p:txBody>
          <a:bodyPr/>
          <a:lstStyle/>
          <a:p>
            <a:endParaRPr lang="en-US"/>
          </a:p>
        </p:txBody>
      </p:sp>
      <p:sp>
        <p:nvSpPr>
          <p:cNvPr id="14" name="Text 12"/>
          <p:cNvSpPr/>
          <p:nvPr/>
        </p:nvSpPr>
        <p:spPr>
          <a:xfrm>
            <a:off x="1124712" y="4721352"/>
            <a:ext cx="4681728" cy="640080"/>
          </a:xfrm>
          <a:prstGeom prst="rect">
            <a:avLst/>
          </a:prstGeom>
          <a:noFill/>
        </p:spPr>
        <p:txBody>
          <a:bodyPr wrap="square" lIns="0" tIns="0" rIns="0" bIns="0" rtlCol="0" anchor="t"/>
          <a:lstStyle/>
          <a:p>
            <a:r>
              <a:rPr lang="en-US" sz="1400" dirty="0"/>
              <a:t>Implement secure authentication and role-based access for </a:t>
            </a:r>
            <a:r>
              <a:rPr lang="en-US" sz="1400" b="1" dirty="0"/>
              <a:t>USER, SPECIALIST, and ADMIN</a:t>
            </a:r>
            <a:r>
              <a:rPr lang="en-US" sz="1400" dirty="0"/>
              <a:t>.</a:t>
            </a:r>
            <a:endParaRPr lang="en-US" sz="1300" dirty="0"/>
          </a:p>
        </p:txBody>
      </p:sp>
      <p:sp>
        <p:nvSpPr>
          <p:cNvPr id="15" name="Shape 13"/>
          <p:cNvSpPr/>
          <p:nvPr/>
        </p:nvSpPr>
        <p:spPr>
          <a:xfrm>
            <a:off x="6309360" y="1417320"/>
            <a:ext cx="5349240" cy="4754880"/>
          </a:xfrm>
          <a:prstGeom prst="roundRect">
            <a:avLst>
              <a:gd name="adj" fmla="val 1923"/>
            </a:avLst>
          </a:prstGeom>
          <a:solidFill>
            <a:srgbClr val="FFFFFF"/>
          </a:solidFill>
          <a:ln w="12700">
            <a:solidFill>
              <a:srgbClr val="CADCFC"/>
            </a:solidFill>
            <a:prstDash val="solid"/>
          </a:ln>
        </p:spPr>
        <p:txBody>
          <a:bodyPr/>
          <a:lstStyle/>
          <a:p>
            <a:endParaRPr lang="en-US"/>
          </a:p>
        </p:txBody>
      </p:sp>
      <p:sp>
        <p:nvSpPr>
          <p:cNvPr id="16" name="Text 14"/>
          <p:cNvSpPr/>
          <p:nvPr/>
        </p:nvSpPr>
        <p:spPr>
          <a:xfrm>
            <a:off x="6583680" y="1645920"/>
            <a:ext cx="480060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Expected outcomes</a:t>
            </a:r>
            <a:endParaRPr lang="en-US" sz="1500" dirty="0"/>
          </a:p>
        </p:txBody>
      </p:sp>
      <p:sp>
        <p:nvSpPr>
          <p:cNvPr id="17" name="Shape 15"/>
          <p:cNvSpPr/>
          <p:nvPr/>
        </p:nvSpPr>
        <p:spPr>
          <a:xfrm>
            <a:off x="6629400" y="2267712"/>
            <a:ext cx="100584" cy="100584"/>
          </a:xfrm>
          <a:prstGeom prst="ellipse">
            <a:avLst/>
          </a:prstGeom>
          <a:solidFill>
            <a:srgbClr val="E8A33D"/>
          </a:solidFill>
        </p:spPr>
        <p:txBody>
          <a:bodyPr/>
          <a:lstStyle/>
          <a:p>
            <a:endParaRPr lang="en-US"/>
          </a:p>
        </p:txBody>
      </p:sp>
      <p:sp>
        <p:nvSpPr>
          <p:cNvPr id="18" name="Text 16"/>
          <p:cNvSpPr/>
          <p:nvPr/>
        </p:nvSpPr>
        <p:spPr>
          <a:xfrm>
            <a:off x="6885432" y="2203704"/>
            <a:ext cx="4681728" cy="329184"/>
          </a:xfrm>
          <a:prstGeom prst="rect">
            <a:avLst/>
          </a:prstGeom>
          <a:noFill/>
        </p:spPr>
        <p:txBody>
          <a:bodyPr wrap="square" lIns="0" tIns="0" rIns="0" bIns="0" rtlCol="0" anchor="t"/>
          <a:lstStyle/>
          <a:p>
            <a:r>
              <a:rPr lang="en-US" sz="1400" dirty="0"/>
              <a:t>Centralized plant and care management</a:t>
            </a:r>
            <a:endParaRPr lang="en-US" sz="1300" dirty="0"/>
          </a:p>
        </p:txBody>
      </p:sp>
      <p:sp>
        <p:nvSpPr>
          <p:cNvPr id="19" name="Shape 17"/>
          <p:cNvSpPr/>
          <p:nvPr/>
        </p:nvSpPr>
        <p:spPr>
          <a:xfrm>
            <a:off x="6629400" y="2907792"/>
            <a:ext cx="100584" cy="100584"/>
          </a:xfrm>
          <a:prstGeom prst="ellipse">
            <a:avLst/>
          </a:prstGeom>
          <a:solidFill>
            <a:srgbClr val="E8A33D"/>
          </a:solidFill>
        </p:spPr>
        <p:txBody>
          <a:bodyPr/>
          <a:lstStyle/>
          <a:p>
            <a:endParaRPr lang="en-US"/>
          </a:p>
        </p:txBody>
      </p:sp>
      <p:sp>
        <p:nvSpPr>
          <p:cNvPr id="20" name="Text 18"/>
          <p:cNvSpPr/>
          <p:nvPr/>
        </p:nvSpPr>
        <p:spPr>
          <a:xfrm>
            <a:off x="6885432" y="2843784"/>
            <a:ext cx="4681728" cy="329184"/>
          </a:xfrm>
          <a:prstGeom prst="rect">
            <a:avLst/>
          </a:prstGeom>
          <a:noFill/>
        </p:spPr>
        <p:txBody>
          <a:bodyPr wrap="square" lIns="0" tIns="0" rIns="0" bIns="0" rtlCol="0" anchor="t"/>
          <a:lstStyle/>
          <a:p>
            <a:r>
              <a:rPr lang="en-US" sz="1400" dirty="0"/>
              <a:t>Organized and automated care scheduling</a:t>
            </a:r>
            <a:endParaRPr lang="en-US" sz="1300" dirty="0"/>
          </a:p>
        </p:txBody>
      </p:sp>
      <p:sp>
        <p:nvSpPr>
          <p:cNvPr id="21" name="Shape 19"/>
          <p:cNvSpPr/>
          <p:nvPr/>
        </p:nvSpPr>
        <p:spPr>
          <a:xfrm>
            <a:off x="6629400" y="3547872"/>
            <a:ext cx="100584" cy="100584"/>
          </a:xfrm>
          <a:prstGeom prst="ellipse">
            <a:avLst/>
          </a:prstGeom>
          <a:solidFill>
            <a:srgbClr val="E8A33D"/>
          </a:solidFill>
        </p:spPr>
        <p:txBody>
          <a:bodyPr/>
          <a:lstStyle/>
          <a:p>
            <a:endParaRPr lang="en-US"/>
          </a:p>
        </p:txBody>
      </p:sp>
      <p:sp>
        <p:nvSpPr>
          <p:cNvPr id="22" name="Text 20"/>
          <p:cNvSpPr/>
          <p:nvPr/>
        </p:nvSpPr>
        <p:spPr>
          <a:xfrm>
            <a:off x="6885432" y="3520439"/>
            <a:ext cx="4681728" cy="265177"/>
          </a:xfrm>
          <a:prstGeom prst="rect">
            <a:avLst/>
          </a:prstGeom>
          <a:noFill/>
        </p:spPr>
        <p:txBody>
          <a:bodyPr wrap="square" lIns="0" tIns="0" rIns="0" bIns="0" rtlCol="0" anchor="t"/>
          <a:lstStyle/>
          <a:p>
            <a:r>
              <a:rPr lang="en-US" sz="1400" dirty="0"/>
              <a:t>Better plant health and environmental tracking</a:t>
            </a:r>
            <a:endParaRPr lang="en-US" sz="1300" dirty="0"/>
          </a:p>
        </p:txBody>
      </p:sp>
      <p:sp>
        <p:nvSpPr>
          <p:cNvPr id="23" name="Shape 21"/>
          <p:cNvSpPr/>
          <p:nvPr/>
        </p:nvSpPr>
        <p:spPr>
          <a:xfrm>
            <a:off x="6629400" y="4187952"/>
            <a:ext cx="100584" cy="100584"/>
          </a:xfrm>
          <a:prstGeom prst="ellipse">
            <a:avLst/>
          </a:prstGeom>
          <a:solidFill>
            <a:srgbClr val="E8A33D"/>
          </a:solidFill>
        </p:spPr>
        <p:txBody>
          <a:bodyPr/>
          <a:lstStyle/>
          <a:p>
            <a:endParaRPr lang="en-US"/>
          </a:p>
        </p:txBody>
      </p:sp>
      <p:sp>
        <p:nvSpPr>
          <p:cNvPr id="24" name="Text 22"/>
          <p:cNvSpPr/>
          <p:nvPr/>
        </p:nvSpPr>
        <p:spPr>
          <a:xfrm>
            <a:off x="6885432" y="4123944"/>
            <a:ext cx="4681728" cy="228600"/>
          </a:xfrm>
          <a:prstGeom prst="rect">
            <a:avLst/>
          </a:prstGeom>
          <a:noFill/>
        </p:spPr>
        <p:txBody>
          <a:bodyPr wrap="square" lIns="0" tIns="0" rIns="0" bIns="0" rtlCol="0" anchor="t"/>
          <a:lstStyle/>
          <a:p>
            <a:r>
              <a:rPr lang="en-US" sz="1400" dirty="0"/>
              <a:t>Secure role-based access</a:t>
            </a:r>
            <a:endParaRPr lang="en-US" sz="1300" dirty="0"/>
          </a:p>
        </p:txBody>
      </p:sp>
      <p:sp>
        <p:nvSpPr>
          <p:cNvPr id="25" name="Text 23"/>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
        <p:nvSpPr>
          <p:cNvPr id="27" name="Text 8">
            <a:extLst>
              <a:ext uri="{FF2B5EF4-FFF2-40B4-BE49-F238E27FC236}">
                <a16:creationId xmlns:a16="http://schemas.microsoft.com/office/drawing/2014/main" id="{C3C3BFEA-421C-8D0E-4AE6-48D9B308C6E3}"/>
              </a:ext>
            </a:extLst>
          </p:cNvPr>
          <p:cNvSpPr/>
          <p:nvPr/>
        </p:nvSpPr>
        <p:spPr>
          <a:xfrm>
            <a:off x="1143000" y="3502152"/>
            <a:ext cx="4681728" cy="362712"/>
          </a:xfrm>
          <a:prstGeom prst="rect">
            <a:avLst/>
          </a:prstGeom>
          <a:noFill/>
        </p:spPr>
        <p:txBody>
          <a:bodyPr wrap="square" lIns="0" tIns="0" rIns="0" bIns="0" rtlCol="0" anchor="t"/>
          <a:lstStyle/>
          <a:p>
            <a:r>
              <a:rPr lang="en-US" sz="1400" dirty="0"/>
              <a:t>Maintain plant health records and environmental information.</a:t>
            </a:r>
            <a:endParaRPr lang="en-US" sz="1300" dirty="0"/>
          </a:p>
        </p:txBody>
      </p:sp>
      <p:sp>
        <p:nvSpPr>
          <p:cNvPr id="29" name="Shape 11">
            <a:extLst>
              <a:ext uri="{FF2B5EF4-FFF2-40B4-BE49-F238E27FC236}">
                <a16:creationId xmlns:a16="http://schemas.microsoft.com/office/drawing/2014/main" id="{5A4942AB-1CA2-B1AC-6FE0-62F8CA40C8E7}"/>
              </a:ext>
            </a:extLst>
          </p:cNvPr>
          <p:cNvSpPr/>
          <p:nvPr/>
        </p:nvSpPr>
        <p:spPr>
          <a:xfrm>
            <a:off x="868680" y="4846321"/>
            <a:ext cx="100584" cy="100584"/>
          </a:xfrm>
          <a:prstGeom prst="ellipse">
            <a:avLst/>
          </a:prstGeom>
          <a:solidFill>
            <a:srgbClr val="E8A33D"/>
          </a:solidFill>
        </p:spPr>
        <p:txBody>
          <a:bodyPr/>
          <a:lstStyle/>
          <a:p>
            <a:endParaRPr lang="en-US"/>
          </a:p>
        </p:txBody>
      </p:sp>
      <p:sp>
        <p:nvSpPr>
          <p:cNvPr id="31" name="Shape 11">
            <a:extLst>
              <a:ext uri="{FF2B5EF4-FFF2-40B4-BE49-F238E27FC236}">
                <a16:creationId xmlns:a16="http://schemas.microsoft.com/office/drawing/2014/main" id="{C6B3C8A5-3AD1-0A27-9E39-4C5855849D3F}"/>
              </a:ext>
            </a:extLst>
          </p:cNvPr>
          <p:cNvSpPr/>
          <p:nvPr/>
        </p:nvSpPr>
        <p:spPr>
          <a:xfrm>
            <a:off x="6629400" y="4849369"/>
            <a:ext cx="100584" cy="100584"/>
          </a:xfrm>
          <a:prstGeom prst="ellipse">
            <a:avLst/>
          </a:prstGeom>
          <a:solidFill>
            <a:srgbClr val="E8A33D"/>
          </a:solidFill>
        </p:spPr>
        <p:txBody>
          <a:bodyPr/>
          <a:lstStyle/>
          <a:p>
            <a:endParaRPr lang="en-US"/>
          </a:p>
        </p:txBody>
      </p:sp>
      <p:sp>
        <p:nvSpPr>
          <p:cNvPr id="33" name="Text 20">
            <a:extLst>
              <a:ext uri="{FF2B5EF4-FFF2-40B4-BE49-F238E27FC236}">
                <a16:creationId xmlns:a16="http://schemas.microsoft.com/office/drawing/2014/main" id="{32DC1670-EFE9-14BA-6249-6364C24A6EE4}"/>
              </a:ext>
            </a:extLst>
          </p:cNvPr>
          <p:cNvSpPr/>
          <p:nvPr/>
        </p:nvSpPr>
        <p:spPr>
          <a:xfrm>
            <a:off x="6885432" y="4776215"/>
            <a:ext cx="4681728" cy="265177"/>
          </a:xfrm>
          <a:prstGeom prst="rect">
            <a:avLst/>
          </a:prstGeom>
          <a:noFill/>
        </p:spPr>
        <p:txBody>
          <a:bodyPr wrap="square" lIns="0" tIns="0" rIns="0" bIns="0" rtlCol="0" anchor="t"/>
          <a:lstStyle/>
          <a:p>
            <a:pPr lvl="0"/>
            <a:r>
              <a:rPr lang="en-US" sz="1400" dirty="0"/>
              <a:t>Improved user–specialist collaboration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04</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PROPOSED SOLUTION</a:t>
            </a:r>
            <a:endParaRPr lang="en-US" sz="1300" dirty="0"/>
          </a:p>
        </p:txBody>
      </p:sp>
      <p:sp>
        <p:nvSpPr>
          <p:cNvPr id="5" name="Text 3"/>
          <p:cNvSpPr/>
          <p:nvPr/>
        </p:nvSpPr>
        <p:spPr>
          <a:xfrm>
            <a:off x="548640" y="1371600"/>
            <a:ext cx="548640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How it works</a:t>
            </a:r>
            <a:endParaRPr lang="en-US" sz="1300" dirty="0"/>
          </a:p>
        </p:txBody>
      </p:sp>
      <p:sp>
        <p:nvSpPr>
          <p:cNvPr id="6" name="Text 4"/>
          <p:cNvSpPr/>
          <p:nvPr/>
        </p:nvSpPr>
        <p:spPr>
          <a:xfrm>
            <a:off x="548640" y="1957746"/>
            <a:ext cx="5486400" cy="1471254"/>
          </a:xfrm>
          <a:prstGeom prst="rect">
            <a:avLst/>
          </a:prstGeom>
          <a:noFill/>
        </p:spPr>
        <p:txBody>
          <a:bodyPr wrap="square" lIns="0" tIns="0" rIns="0" bIns="0" rtlCol="0" anchor="ctr"/>
          <a:lstStyle/>
          <a:p>
            <a:pPr marL="285750" lvl="0" indent="-285750">
              <a:buClr>
                <a:schemeClr val="accent2"/>
              </a:buClr>
              <a:buFont typeface="Arial" panose="020B0604020202020204" pitchFamily="34" charset="0"/>
              <a:buChar char="•"/>
            </a:pPr>
            <a:r>
              <a:rPr lang="en-US" sz="1400" b="1" i="1" dirty="0">
                <a:solidFill>
                  <a:schemeClr val="accent1">
                    <a:lumMod val="75000"/>
                  </a:schemeClr>
                </a:solidFill>
              </a:rPr>
              <a:t>One Smart Workspace</a:t>
            </a:r>
            <a:r>
              <a:rPr lang="en-US" sz="1400" i="1" dirty="0">
                <a:solidFill>
                  <a:schemeClr val="accent1">
                    <a:lumMod val="75000"/>
                  </a:schemeClr>
                </a:solidFill>
              </a:rPr>
              <a:t> </a:t>
            </a:r>
            <a:r>
              <a:rPr lang="en-US" sz="1400" i="1" dirty="0"/>
              <a:t>→ All plant information in one place </a:t>
            </a:r>
          </a:p>
          <a:p>
            <a:pPr marL="285750" lvl="0" indent="-285750">
              <a:buClr>
                <a:schemeClr val="accent2"/>
              </a:buClr>
              <a:buFont typeface="Arial" panose="020B0604020202020204" pitchFamily="34" charset="0"/>
              <a:buChar char="•"/>
            </a:pPr>
            <a:r>
              <a:rPr lang="en-US" sz="1400" b="1" i="1" dirty="0">
                <a:solidFill>
                  <a:schemeClr val="accent1">
                    <a:lumMod val="75000"/>
                  </a:schemeClr>
                </a:solidFill>
              </a:rPr>
              <a:t>Care Planner</a:t>
            </a:r>
            <a:r>
              <a:rPr lang="en-US" sz="1400" i="1" dirty="0">
                <a:solidFill>
                  <a:schemeClr val="accent1">
                    <a:lumMod val="75000"/>
                  </a:schemeClr>
                </a:solidFill>
              </a:rPr>
              <a:t> </a:t>
            </a:r>
            <a:r>
              <a:rPr lang="en-US" sz="1400" i="1" dirty="0"/>
              <a:t>→ Converts plant needs into scheduled activities </a:t>
            </a:r>
          </a:p>
          <a:p>
            <a:pPr marL="285750" lvl="0" indent="-285750">
              <a:buClr>
                <a:schemeClr val="accent2"/>
              </a:buClr>
              <a:buFont typeface="Arial" panose="020B0604020202020204" pitchFamily="34" charset="0"/>
              <a:buChar char="•"/>
            </a:pPr>
            <a:r>
              <a:rPr lang="en-US" sz="1400" b="1" i="1" dirty="0">
                <a:solidFill>
                  <a:schemeClr val="accent1">
                    <a:lumMod val="75000"/>
                  </a:schemeClr>
                </a:solidFill>
              </a:rPr>
              <a:t>Health Tracker</a:t>
            </a:r>
            <a:r>
              <a:rPr lang="en-US" sz="1400" i="1" dirty="0">
                <a:solidFill>
                  <a:schemeClr val="accent1">
                    <a:lumMod val="75000"/>
                  </a:schemeClr>
                </a:solidFill>
              </a:rPr>
              <a:t> </a:t>
            </a:r>
            <a:r>
              <a:rPr lang="en-US" sz="1400" i="1" dirty="0"/>
              <a:t>→ Maintains a continuous record of plant condition </a:t>
            </a:r>
          </a:p>
          <a:p>
            <a:pPr marL="285750" lvl="0" indent="-285750">
              <a:buClr>
                <a:schemeClr val="accent2"/>
              </a:buClr>
              <a:buFont typeface="Arial" panose="020B0604020202020204" pitchFamily="34" charset="0"/>
              <a:buChar char="•"/>
            </a:pPr>
            <a:r>
              <a:rPr lang="en-US" sz="1400" b="1" i="1" dirty="0">
                <a:solidFill>
                  <a:schemeClr val="accent1">
                    <a:lumMod val="75000"/>
                  </a:schemeClr>
                </a:solidFill>
              </a:rPr>
              <a:t>Expert Connect</a:t>
            </a:r>
            <a:r>
              <a:rPr lang="en-US" sz="1400" i="1" dirty="0">
                <a:solidFill>
                  <a:schemeClr val="accent1">
                    <a:lumMod val="75000"/>
                  </a:schemeClr>
                </a:solidFill>
              </a:rPr>
              <a:t> </a:t>
            </a:r>
            <a:r>
              <a:rPr lang="en-US" sz="1400" i="1" dirty="0"/>
              <a:t>→ Enables users to seek specialist guidance </a:t>
            </a:r>
          </a:p>
          <a:p>
            <a:pPr marL="285750" lvl="0" indent="-285750">
              <a:buClr>
                <a:schemeClr val="accent2"/>
              </a:buClr>
              <a:buFont typeface="Arial" panose="020B0604020202020204" pitchFamily="34" charset="0"/>
              <a:buChar char="•"/>
            </a:pPr>
            <a:r>
              <a:rPr lang="en-US" sz="1400" b="1" i="1" dirty="0">
                <a:solidFill>
                  <a:schemeClr val="accent1">
                    <a:lumMod val="75000"/>
                  </a:schemeClr>
                </a:solidFill>
              </a:rPr>
              <a:t>Community Support</a:t>
            </a:r>
            <a:r>
              <a:rPr lang="en-US" sz="1400" i="1" dirty="0">
                <a:solidFill>
                  <a:schemeClr val="accent1">
                    <a:lumMod val="75000"/>
                  </a:schemeClr>
                </a:solidFill>
              </a:rPr>
              <a:t> </a:t>
            </a:r>
            <a:r>
              <a:rPr lang="en-US" sz="1400" i="1" dirty="0"/>
              <a:t>→ Encourages knowledge sharing among plant owners</a:t>
            </a:r>
          </a:p>
        </p:txBody>
      </p:sp>
      <p:sp>
        <p:nvSpPr>
          <p:cNvPr id="7" name="Shape 5"/>
          <p:cNvSpPr/>
          <p:nvPr/>
        </p:nvSpPr>
        <p:spPr>
          <a:xfrm>
            <a:off x="6530741" y="1051560"/>
            <a:ext cx="4937760" cy="5313466"/>
          </a:xfrm>
          <a:prstGeom prst="roundRect">
            <a:avLst>
              <a:gd name="adj" fmla="val 1923"/>
            </a:avLst>
          </a:prstGeom>
          <a:solidFill>
            <a:srgbClr val="EEF3FD"/>
          </a:solidFill>
        </p:spPr>
        <p:txBody>
          <a:bodyPr/>
          <a:lstStyle/>
          <a:p>
            <a:endParaRPr lang="en-US" dirty="0"/>
          </a:p>
        </p:txBody>
      </p:sp>
      <p:sp>
        <p:nvSpPr>
          <p:cNvPr id="8" name="Text 6"/>
          <p:cNvSpPr/>
          <p:nvPr/>
        </p:nvSpPr>
        <p:spPr>
          <a:xfrm>
            <a:off x="6949440" y="1348740"/>
            <a:ext cx="438912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Major features</a:t>
            </a:r>
            <a:endParaRPr lang="en-US" sz="1500" dirty="0"/>
          </a:p>
        </p:txBody>
      </p:sp>
      <p:sp>
        <p:nvSpPr>
          <p:cNvPr id="12" name="Text 10"/>
          <p:cNvSpPr/>
          <p:nvPr/>
        </p:nvSpPr>
        <p:spPr>
          <a:xfrm>
            <a:off x="6949440" y="1770246"/>
            <a:ext cx="4041648" cy="4594780"/>
          </a:xfrm>
          <a:prstGeom prst="rect">
            <a:avLst/>
          </a:prstGeom>
          <a:noFill/>
        </p:spPr>
        <p:txBody>
          <a:bodyPr wrap="square" lIns="0" tIns="0" rIns="0" bIns="0" rtlCol="0" anchor="t"/>
          <a:lstStyle/>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JWT-secured authentication with 3-tier role-based access control</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Plant collection manager with growth metrics and health status</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Botanical species catalog with care baselines and toxicity notes</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Species-derived care task scheduler with priority and overdue tracking</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Health records for symptoms, diagnosis, treatment and recovery</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Environmental telemetry logging per plant and location</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Specialist consultation booking with status lifecycle</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Community forum with posts, comments and notification feed</a:t>
            </a:r>
            <a:endParaRPr lang="en-US" sz="1400" dirty="0"/>
          </a:p>
        </p:txBody>
      </p:sp>
      <p:sp>
        <p:nvSpPr>
          <p:cNvPr id="19" name="Text 17"/>
          <p:cNvSpPr/>
          <p:nvPr/>
        </p:nvSpPr>
        <p:spPr>
          <a:xfrm>
            <a:off x="548640" y="3735922"/>
            <a:ext cx="548640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Why this solves the problem</a:t>
            </a:r>
            <a:endParaRPr lang="en-US" sz="1300" dirty="0"/>
          </a:p>
        </p:txBody>
      </p:sp>
      <p:sp>
        <p:nvSpPr>
          <p:cNvPr id="20" name="Text 18"/>
          <p:cNvSpPr/>
          <p:nvPr/>
        </p:nvSpPr>
        <p:spPr>
          <a:xfrm>
            <a:off x="548640" y="4176187"/>
            <a:ext cx="5486400" cy="1310213"/>
          </a:xfrm>
          <a:prstGeom prst="rect">
            <a:avLst/>
          </a:prstGeom>
          <a:noFill/>
        </p:spPr>
        <p:txBody>
          <a:bodyPr wrap="square" lIns="0" tIns="0" rIns="0" bIns="0" rtlCol="0" anchor="ctr"/>
          <a:lstStyle/>
          <a:p>
            <a:r>
              <a:rPr lang="en-US" sz="1400" b="1" i="1" dirty="0">
                <a:solidFill>
                  <a:schemeClr val="accent1">
                    <a:lumMod val="75000"/>
                  </a:schemeClr>
                </a:solidFill>
              </a:rPr>
              <a:t>From remembering plant care → to managing it systematically.</a:t>
            </a:r>
          </a:p>
          <a:p>
            <a:pPr marL="285750" indent="-285750">
              <a:buClr>
                <a:schemeClr val="accent2"/>
              </a:buClr>
              <a:buFont typeface="Arial" panose="020B0604020202020204" pitchFamily="34" charset="0"/>
              <a:buChar char="•"/>
            </a:pPr>
            <a:endParaRPr lang="en-US" sz="1400" dirty="0"/>
          </a:p>
          <a:p>
            <a:pPr marL="285750" lvl="0" indent="-285750">
              <a:buClr>
                <a:schemeClr val="accent2"/>
              </a:buClr>
              <a:buFont typeface="Arial" panose="020B0604020202020204" pitchFamily="34" charset="0"/>
              <a:buChar char="•"/>
            </a:pPr>
            <a:r>
              <a:rPr lang="en-US" sz="1400" i="1" dirty="0"/>
              <a:t>Replaces scattered/manual tracking with a structured system. </a:t>
            </a:r>
          </a:p>
          <a:p>
            <a:pPr marL="285750" lvl="0" indent="-285750">
              <a:buClr>
                <a:schemeClr val="accent2"/>
              </a:buClr>
              <a:buFont typeface="Arial" panose="020B0604020202020204" pitchFamily="34" charset="0"/>
              <a:buChar char="•"/>
            </a:pPr>
            <a:r>
              <a:rPr lang="en-US" sz="1400" i="1" dirty="0"/>
              <a:t>Turns routine care into </a:t>
            </a:r>
            <a:r>
              <a:rPr lang="en-US" sz="1400" b="1" i="1" dirty="0"/>
              <a:t>trackable actions</a:t>
            </a:r>
            <a:r>
              <a:rPr lang="en-US" sz="1400" i="1" dirty="0"/>
              <a:t>. </a:t>
            </a:r>
          </a:p>
          <a:p>
            <a:pPr marL="285750" lvl="0" indent="-285750">
              <a:buClr>
                <a:schemeClr val="accent2"/>
              </a:buClr>
              <a:buFont typeface="Arial" panose="020B0604020202020204" pitchFamily="34" charset="0"/>
              <a:buChar char="•"/>
            </a:pPr>
            <a:r>
              <a:rPr lang="en-US" sz="1400" i="1" dirty="0"/>
              <a:t>Keeps plant history available for </a:t>
            </a:r>
            <a:r>
              <a:rPr lang="en-US" sz="1400" b="1" i="1" dirty="0"/>
              <a:t>better care decisions</a:t>
            </a:r>
            <a:r>
              <a:rPr lang="en-US" sz="1400" i="1" dirty="0"/>
              <a:t>. </a:t>
            </a:r>
          </a:p>
          <a:p>
            <a:pPr marL="285750" lvl="0" indent="-285750">
              <a:buClr>
                <a:schemeClr val="accent2"/>
              </a:buClr>
              <a:buFont typeface="Arial" panose="020B0604020202020204" pitchFamily="34" charset="0"/>
              <a:buChar char="•"/>
            </a:pPr>
            <a:r>
              <a:rPr lang="en-US" sz="1400" i="1" dirty="0"/>
              <a:t>Brings </a:t>
            </a:r>
            <a:r>
              <a:rPr lang="en-US" sz="1400" b="1" i="1" dirty="0"/>
              <a:t>management, guidance, and community</a:t>
            </a:r>
            <a:r>
              <a:rPr lang="en-US" sz="1400" i="1" dirty="0"/>
              <a:t> into one platform.</a:t>
            </a:r>
          </a:p>
        </p:txBody>
      </p:sp>
      <p:sp>
        <p:nvSpPr>
          <p:cNvPr id="21" name="Text 19"/>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05</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TECHNOLOGY STACK</a:t>
            </a:r>
            <a:endParaRPr lang="en-US" sz="1300" dirty="0"/>
          </a:p>
        </p:txBody>
      </p:sp>
      <p:sp>
        <p:nvSpPr>
          <p:cNvPr id="5" name="Shape 3"/>
          <p:cNvSpPr/>
          <p:nvPr/>
        </p:nvSpPr>
        <p:spPr>
          <a:xfrm>
            <a:off x="548640" y="1463040"/>
            <a:ext cx="3566160" cy="1737360"/>
          </a:xfrm>
          <a:prstGeom prst="roundRect">
            <a:avLst>
              <a:gd name="adj" fmla="val 5263"/>
            </a:avLst>
          </a:prstGeom>
          <a:solidFill>
            <a:srgbClr val="EEF3FD"/>
          </a:solidFill>
        </p:spPr>
        <p:txBody>
          <a:bodyPr/>
          <a:lstStyle/>
          <a:p>
            <a:endParaRPr lang="en-US"/>
          </a:p>
        </p:txBody>
      </p:sp>
      <p:sp>
        <p:nvSpPr>
          <p:cNvPr id="6" name="Text 4"/>
          <p:cNvSpPr/>
          <p:nvPr/>
        </p:nvSpPr>
        <p:spPr>
          <a:xfrm>
            <a:off x="777240" y="164592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Frontend</a:t>
            </a:r>
            <a:endParaRPr lang="en-US" sz="1400" dirty="0"/>
          </a:p>
        </p:txBody>
      </p:sp>
      <p:sp>
        <p:nvSpPr>
          <p:cNvPr id="7" name="Text 5"/>
          <p:cNvSpPr/>
          <p:nvPr/>
        </p:nvSpPr>
        <p:spPr>
          <a:xfrm>
            <a:off x="777240" y="2194560"/>
            <a:ext cx="3108960" cy="822960"/>
          </a:xfrm>
          <a:prstGeom prst="rect">
            <a:avLst/>
          </a:prstGeom>
          <a:noFill/>
        </p:spPr>
        <p:txBody>
          <a:bodyPr wrap="square" lIns="0" tIns="0" rIns="0" bIns="0" rtlCol="0" anchor="ctr"/>
          <a:lstStyle/>
          <a:p>
            <a:pPr>
              <a:lnSpc>
                <a:spcPct val="125000"/>
              </a:lnSpc>
            </a:pPr>
            <a:r>
              <a:rPr lang="en-US" sz="1400" dirty="0">
                <a:solidFill>
                  <a:srgbClr val="1F2937"/>
                </a:solidFill>
                <a:latin typeface="Calibri" pitchFamily="34" charset="0"/>
                <a:ea typeface="Calibri" pitchFamily="34" charset="-122"/>
                <a:cs typeface="Calibri" pitchFamily="34" charset="-120"/>
              </a:rPr>
              <a:t>React 19 · HTML · CSS · JavaScript</a:t>
            </a:r>
            <a:endParaRPr lang="en-US" sz="1400" dirty="0"/>
          </a:p>
        </p:txBody>
      </p:sp>
      <p:sp>
        <p:nvSpPr>
          <p:cNvPr id="8" name="Shape 6"/>
          <p:cNvSpPr/>
          <p:nvPr/>
        </p:nvSpPr>
        <p:spPr>
          <a:xfrm>
            <a:off x="4334256" y="1463040"/>
            <a:ext cx="3566160" cy="1737360"/>
          </a:xfrm>
          <a:prstGeom prst="roundRect">
            <a:avLst>
              <a:gd name="adj" fmla="val 5263"/>
            </a:avLst>
          </a:prstGeom>
          <a:solidFill>
            <a:srgbClr val="EEF3FD"/>
          </a:solidFill>
        </p:spPr>
        <p:txBody>
          <a:bodyPr/>
          <a:lstStyle/>
          <a:p>
            <a:endParaRPr lang="en-US"/>
          </a:p>
        </p:txBody>
      </p:sp>
      <p:sp>
        <p:nvSpPr>
          <p:cNvPr id="9" name="Text 7"/>
          <p:cNvSpPr/>
          <p:nvPr/>
        </p:nvSpPr>
        <p:spPr>
          <a:xfrm>
            <a:off x="4562856" y="164592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Backend</a:t>
            </a:r>
            <a:endParaRPr lang="en-US" sz="1400" dirty="0"/>
          </a:p>
        </p:txBody>
      </p:sp>
      <p:sp>
        <p:nvSpPr>
          <p:cNvPr id="10" name="Text 8"/>
          <p:cNvSpPr/>
          <p:nvPr/>
        </p:nvSpPr>
        <p:spPr>
          <a:xfrm>
            <a:off x="4562856" y="2194560"/>
            <a:ext cx="3108960" cy="822960"/>
          </a:xfrm>
          <a:prstGeom prst="rect">
            <a:avLst/>
          </a:prstGeom>
          <a:noFill/>
        </p:spPr>
        <p:txBody>
          <a:bodyPr wrap="square" lIns="0" tIns="0" rIns="0" bIns="0" rtlCol="0" anchor="ctr"/>
          <a:lstStyle/>
          <a:p>
            <a:pPr>
              <a:lnSpc>
                <a:spcPct val="125000"/>
              </a:lnSpc>
            </a:pPr>
            <a:r>
              <a:rPr lang="en-US" sz="1400" dirty="0">
                <a:solidFill>
                  <a:srgbClr val="1F2937"/>
                </a:solidFill>
                <a:latin typeface="Calibri" pitchFamily="34" charset="0"/>
                <a:ea typeface="Calibri" pitchFamily="34" charset="-122"/>
                <a:cs typeface="Calibri" pitchFamily="34" charset="-120"/>
              </a:rPr>
              <a:t>Spring Boot 3.5.15</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Java 17 · Maven</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Spring Data JPA (Hibernate)</a:t>
            </a:r>
            <a:endParaRPr lang="en-US" sz="1250" dirty="0"/>
          </a:p>
        </p:txBody>
      </p:sp>
      <p:sp>
        <p:nvSpPr>
          <p:cNvPr id="11" name="Shape 9"/>
          <p:cNvSpPr/>
          <p:nvPr/>
        </p:nvSpPr>
        <p:spPr>
          <a:xfrm>
            <a:off x="8119872" y="1463040"/>
            <a:ext cx="3566160" cy="1737360"/>
          </a:xfrm>
          <a:prstGeom prst="roundRect">
            <a:avLst>
              <a:gd name="adj" fmla="val 5263"/>
            </a:avLst>
          </a:prstGeom>
          <a:solidFill>
            <a:srgbClr val="EEF3FD"/>
          </a:solidFill>
        </p:spPr>
        <p:txBody>
          <a:bodyPr/>
          <a:lstStyle/>
          <a:p>
            <a:endParaRPr lang="en-US"/>
          </a:p>
        </p:txBody>
      </p:sp>
      <p:sp>
        <p:nvSpPr>
          <p:cNvPr id="12" name="Text 10"/>
          <p:cNvSpPr/>
          <p:nvPr/>
        </p:nvSpPr>
        <p:spPr>
          <a:xfrm>
            <a:off x="8348472" y="164592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Database</a:t>
            </a:r>
            <a:endParaRPr lang="en-US" sz="1400" dirty="0"/>
          </a:p>
        </p:txBody>
      </p:sp>
      <p:sp>
        <p:nvSpPr>
          <p:cNvPr id="13" name="Text 11"/>
          <p:cNvSpPr/>
          <p:nvPr/>
        </p:nvSpPr>
        <p:spPr>
          <a:xfrm>
            <a:off x="8348472" y="2194560"/>
            <a:ext cx="1235366" cy="713232"/>
          </a:xfrm>
          <a:prstGeom prst="rect">
            <a:avLst/>
          </a:prstGeom>
          <a:noFill/>
        </p:spPr>
        <p:txBody>
          <a:bodyPr wrap="square" lIns="0" tIns="0" rIns="0" bIns="0" rtlCol="0" anchor="ctr"/>
          <a:lstStyle/>
          <a:p>
            <a:pPr>
              <a:lnSpc>
                <a:spcPct val="125000"/>
              </a:lnSpc>
            </a:pPr>
            <a:r>
              <a:rPr lang="en-US" sz="1400" dirty="0">
                <a:solidFill>
                  <a:srgbClr val="1F2937"/>
                </a:solidFill>
                <a:latin typeface="Calibri" pitchFamily="34" charset="0"/>
                <a:ea typeface="Calibri" pitchFamily="34" charset="-122"/>
                <a:cs typeface="Calibri" pitchFamily="34" charset="-120"/>
              </a:rPr>
              <a:t>MySQL 8.x</a:t>
            </a:r>
            <a:endParaRPr lang="en-US" sz="1400" dirty="0"/>
          </a:p>
        </p:txBody>
      </p:sp>
      <p:sp>
        <p:nvSpPr>
          <p:cNvPr id="14" name="Shape 12"/>
          <p:cNvSpPr/>
          <p:nvPr/>
        </p:nvSpPr>
        <p:spPr>
          <a:xfrm>
            <a:off x="548640" y="3383280"/>
            <a:ext cx="3566160" cy="2011680"/>
          </a:xfrm>
          <a:prstGeom prst="roundRect">
            <a:avLst>
              <a:gd name="adj" fmla="val 5263"/>
            </a:avLst>
          </a:prstGeom>
          <a:solidFill>
            <a:srgbClr val="EEF3FD"/>
          </a:solidFill>
        </p:spPr>
        <p:txBody>
          <a:bodyPr/>
          <a:lstStyle/>
          <a:p>
            <a:endParaRPr lang="en-US"/>
          </a:p>
        </p:txBody>
      </p:sp>
      <p:sp>
        <p:nvSpPr>
          <p:cNvPr id="15" name="Text 13"/>
          <p:cNvSpPr/>
          <p:nvPr/>
        </p:nvSpPr>
        <p:spPr>
          <a:xfrm>
            <a:off x="777240" y="356616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APIs / libraries / frameworks</a:t>
            </a:r>
            <a:endParaRPr lang="en-US" sz="1400" dirty="0"/>
          </a:p>
        </p:txBody>
      </p:sp>
      <p:sp>
        <p:nvSpPr>
          <p:cNvPr id="16" name="Text 14"/>
          <p:cNvSpPr/>
          <p:nvPr/>
        </p:nvSpPr>
        <p:spPr>
          <a:xfrm>
            <a:off x="777240" y="4114800"/>
            <a:ext cx="3108960" cy="822960"/>
          </a:xfrm>
          <a:prstGeom prst="rect">
            <a:avLst/>
          </a:prstGeom>
          <a:noFill/>
        </p:spPr>
        <p:txBody>
          <a:bodyPr wrap="square" lIns="0" tIns="0" rIns="0" bIns="0" rtlCol="0" anchor="ctr"/>
          <a:lstStyle/>
          <a:p>
            <a:pPr>
              <a:lnSpc>
                <a:spcPct val="125000"/>
              </a:lnSpc>
            </a:pPr>
            <a:r>
              <a:rPr lang="en-US" sz="1400" dirty="0">
                <a:solidFill>
                  <a:srgbClr val="1F2937"/>
                </a:solidFill>
                <a:latin typeface="Calibri" pitchFamily="34" charset="0"/>
                <a:ea typeface="Calibri" pitchFamily="34" charset="-122"/>
                <a:cs typeface="Calibri" pitchFamily="34" charset="-120"/>
              </a:rPr>
              <a:t>REST API (11 controllers)</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Spring Security 6 + JJWT 0.12.6</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SpringDoc Open API 2.8.9 (Swagger UI)</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Lombok · Hibernate Validator</a:t>
            </a:r>
            <a:endParaRPr lang="en-US" sz="1400" dirty="0"/>
          </a:p>
        </p:txBody>
      </p:sp>
      <p:sp>
        <p:nvSpPr>
          <p:cNvPr id="17" name="Shape 15"/>
          <p:cNvSpPr/>
          <p:nvPr/>
        </p:nvSpPr>
        <p:spPr>
          <a:xfrm>
            <a:off x="4334256" y="3383280"/>
            <a:ext cx="3566160" cy="2029968"/>
          </a:xfrm>
          <a:prstGeom prst="roundRect">
            <a:avLst>
              <a:gd name="adj" fmla="val 5263"/>
            </a:avLst>
          </a:prstGeom>
          <a:solidFill>
            <a:srgbClr val="EEF3FD"/>
          </a:solidFill>
        </p:spPr>
        <p:txBody>
          <a:bodyPr/>
          <a:lstStyle/>
          <a:p>
            <a:endParaRPr lang="en-US"/>
          </a:p>
        </p:txBody>
      </p:sp>
      <p:sp>
        <p:nvSpPr>
          <p:cNvPr id="18" name="Text 16"/>
          <p:cNvSpPr/>
          <p:nvPr/>
        </p:nvSpPr>
        <p:spPr>
          <a:xfrm>
            <a:off x="4562856" y="356616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Development tools</a:t>
            </a:r>
            <a:endParaRPr lang="en-US" sz="1400" dirty="0"/>
          </a:p>
        </p:txBody>
      </p:sp>
      <p:sp>
        <p:nvSpPr>
          <p:cNvPr id="19" name="Text 17"/>
          <p:cNvSpPr/>
          <p:nvPr/>
        </p:nvSpPr>
        <p:spPr>
          <a:xfrm>
            <a:off x="4562856" y="4114800"/>
            <a:ext cx="3108960" cy="822960"/>
          </a:xfrm>
          <a:prstGeom prst="rect">
            <a:avLst/>
          </a:prstGeom>
          <a:noFill/>
        </p:spPr>
        <p:txBody>
          <a:bodyPr wrap="square" lIns="0" tIns="0" rIns="0" bIns="0" rtlCol="0" anchor="ctr"/>
          <a:lstStyle/>
          <a:p>
            <a:pPr>
              <a:lnSpc>
                <a:spcPct val="125000"/>
              </a:lnSpc>
            </a:pPr>
            <a:r>
              <a:rPr lang="en-US" sz="1400" dirty="0">
                <a:solidFill>
                  <a:srgbClr val="1F2937"/>
                </a:solidFill>
                <a:latin typeface="Calibri" pitchFamily="34" charset="0"/>
                <a:ea typeface="Calibri" pitchFamily="34" charset="-122"/>
                <a:cs typeface="Calibri" pitchFamily="34" charset="-120"/>
              </a:rPr>
              <a:t>Git / GitHub · VS Code</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MySQL Workbench</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Swagger UI / Postman</a:t>
            </a:r>
            <a:endParaRPr lang="en-US" sz="1400" dirty="0"/>
          </a:p>
        </p:txBody>
      </p:sp>
      <p:sp>
        <p:nvSpPr>
          <p:cNvPr id="20" name="Shape 18"/>
          <p:cNvSpPr/>
          <p:nvPr/>
        </p:nvSpPr>
        <p:spPr>
          <a:xfrm>
            <a:off x="8119872" y="3383280"/>
            <a:ext cx="3566160" cy="2029968"/>
          </a:xfrm>
          <a:prstGeom prst="roundRect">
            <a:avLst>
              <a:gd name="adj" fmla="val 5263"/>
            </a:avLst>
          </a:prstGeom>
          <a:solidFill>
            <a:srgbClr val="EEF3FD"/>
          </a:solidFill>
        </p:spPr>
        <p:txBody>
          <a:bodyPr/>
          <a:lstStyle/>
          <a:p>
            <a:endParaRPr lang="en-US"/>
          </a:p>
        </p:txBody>
      </p:sp>
      <p:sp>
        <p:nvSpPr>
          <p:cNvPr id="21" name="Text 19"/>
          <p:cNvSpPr/>
          <p:nvPr/>
        </p:nvSpPr>
        <p:spPr>
          <a:xfrm>
            <a:off x="8348472" y="3566160"/>
            <a:ext cx="3108960" cy="45720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Other</a:t>
            </a:r>
            <a:endParaRPr lang="en-US" sz="1400" dirty="0"/>
          </a:p>
        </p:txBody>
      </p:sp>
      <p:sp>
        <p:nvSpPr>
          <p:cNvPr id="22" name="Text 20"/>
          <p:cNvSpPr/>
          <p:nvPr/>
        </p:nvSpPr>
        <p:spPr>
          <a:xfrm>
            <a:off x="8348472" y="4114800"/>
            <a:ext cx="3108960" cy="822960"/>
          </a:xfrm>
          <a:prstGeom prst="rect">
            <a:avLst/>
          </a:prstGeom>
          <a:noFill/>
        </p:spPr>
        <p:txBody>
          <a:bodyPr wrap="square" lIns="0" tIns="0" rIns="0" bIns="0" rtlCol="0" anchor="ctr"/>
          <a:lstStyle/>
          <a:p>
            <a:pPr>
              <a:lnSpc>
                <a:spcPct val="125000"/>
              </a:lnSpc>
            </a:pPr>
            <a:r>
              <a:rPr lang="en-US" sz="1400" dirty="0" err="1">
                <a:solidFill>
                  <a:srgbClr val="1F2937"/>
                </a:solidFill>
                <a:latin typeface="Calibri" pitchFamily="34" charset="0"/>
                <a:ea typeface="Calibri" pitchFamily="34" charset="-122"/>
                <a:cs typeface="Calibri" pitchFamily="34" charset="-120"/>
              </a:rPr>
              <a:t>BCrypt</a:t>
            </a:r>
            <a:r>
              <a:rPr lang="en-US" sz="1400" dirty="0">
                <a:solidFill>
                  <a:srgbClr val="1F2937"/>
                </a:solidFill>
                <a:latin typeface="Calibri" pitchFamily="34" charset="0"/>
                <a:ea typeface="Calibri" pitchFamily="34" charset="-122"/>
                <a:cs typeface="Calibri" pitchFamily="34" charset="-120"/>
              </a:rPr>
              <a:t> password hashing</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CORS config for Vite client</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spring-</a:t>
            </a:r>
            <a:r>
              <a:rPr lang="en-US" sz="1400" dirty="0" err="1">
                <a:solidFill>
                  <a:srgbClr val="1F2937"/>
                </a:solidFill>
                <a:latin typeface="Calibri" pitchFamily="34" charset="0"/>
                <a:ea typeface="Calibri" pitchFamily="34" charset="-122"/>
                <a:cs typeface="Calibri" pitchFamily="34" charset="-120"/>
              </a:rPr>
              <a:t>dotenv</a:t>
            </a:r>
            <a:r>
              <a:rPr lang="en-US" sz="1400" dirty="0">
                <a:solidFill>
                  <a:srgbClr val="1F2937"/>
                </a:solidFill>
                <a:latin typeface="Calibri" pitchFamily="34" charset="0"/>
                <a:ea typeface="Calibri" pitchFamily="34" charset="-122"/>
                <a:cs typeface="Calibri" pitchFamily="34" charset="-120"/>
              </a:rPr>
              <a:t> (.env secrets)</a:t>
            </a:r>
            <a:endParaRPr lang="en-US" sz="1400" dirty="0"/>
          </a:p>
          <a:p>
            <a:pPr>
              <a:lnSpc>
                <a:spcPct val="125000"/>
              </a:lnSpc>
            </a:pPr>
            <a:r>
              <a:rPr lang="en-US" sz="1400" dirty="0">
                <a:solidFill>
                  <a:srgbClr val="1F2937"/>
                </a:solidFill>
                <a:latin typeface="Calibri" pitchFamily="34" charset="0"/>
                <a:ea typeface="Calibri" pitchFamily="34" charset="-122"/>
                <a:cs typeface="Calibri" pitchFamily="34" charset="-120"/>
              </a:rPr>
              <a:t>Global exception handling</a:t>
            </a:r>
            <a:endParaRPr lang="en-US" sz="1400" dirty="0"/>
          </a:p>
        </p:txBody>
      </p:sp>
      <p:sp>
        <p:nvSpPr>
          <p:cNvPr id="23" name="Text 21"/>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F3FD"/>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06</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SYSTEM ARCHITECTURE</a:t>
            </a:r>
            <a:endParaRPr lang="en-US" sz="1300" dirty="0"/>
          </a:p>
        </p:txBody>
      </p:sp>
      <p:sp>
        <p:nvSpPr>
          <p:cNvPr id="5" name="Shape 3"/>
          <p:cNvSpPr/>
          <p:nvPr/>
        </p:nvSpPr>
        <p:spPr>
          <a:xfrm>
            <a:off x="548640" y="1828800"/>
            <a:ext cx="2377440" cy="1005840"/>
          </a:xfrm>
          <a:prstGeom prst="roundRect">
            <a:avLst>
              <a:gd name="adj" fmla="val 9091"/>
            </a:avLst>
          </a:prstGeom>
          <a:solidFill>
            <a:srgbClr val="FFFFFF"/>
          </a:solidFill>
          <a:ln w="19050">
            <a:solidFill>
              <a:srgbClr val="1E2761"/>
            </a:solidFill>
            <a:prstDash val="solid"/>
          </a:ln>
        </p:spPr>
        <p:txBody>
          <a:bodyPr/>
          <a:lstStyle/>
          <a:p>
            <a:endParaRPr lang="en-US" dirty="0"/>
          </a:p>
        </p:txBody>
      </p:sp>
      <p:sp>
        <p:nvSpPr>
          <p:cNvPr id="6" name="Text 4"/>
          <p:cNvSpPr/>
          <p:nvPr/>
        </p:nvSpPr>
        <p:spPr>
          <a:xfrm>
            <a:off x="548640" y="1828800"/>
            <a:ext cx="2377440" cy="320040"/>
          </a:xfrm>
          <a:prstGeom prst="rect">
            <a:avLst/>
          </a:prstGeom>
          <a:noFill/>
        </p:spPr>
        <p:txBody>
          <a:bodyPr wrap="square" lIns="0" tIns="0" rIns="0" bIns="0" rtlCol="0" anchor="b"/>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Frontend</a:t>
            </a:r>
            <a:endParaRPr lang="en-US" sz="1300" dirty="0"/>
          </a:p>
        </p:txBody>
      </p:sp>
      <p:sp>
        <p:nvSpPr>
          <p:cNvPr id="7" name="Text 5"/>
          <p:cNvSpPr/>
          <p:nvPr/>
        </p:nvSpPr>
        <p:spPr>
          <a:xfrm>
            <a:off x="548640" y="2240280"/>
            <a:ext cx="2377440" cy="548640"/>
          </a:xfrm>
          <a:prstGeom prst="rect">
            <a:avLst/>
          </a:prstGeom>
          <a:noFill/>
        </p:spPr>
        <p:txBody>
          <a:bodyPr wrap="square" lIns="0" tIns="0" rIns="0" bIns="0" rtlCol="0" anchor="t"/>
          <a:lstStyle/>
          <a:p>
            <a:pPr algn="ctr">
              <a:lnSpc>
                <a:spcPct val="120000"/>
              </a:lnSpc>
            </a:pPr>
            <a:r>
              <a:rPr lang="en-US" sz="1050" dirty="0">
                <a:solidFill>
                  <a:srgbClr val="1F2937"/>
                </a:solidFill>
                <a:latin typeface="Calibri" pitchFamily="34" charset="0"/>
                <a:ea typeface="Calibri" pitchFamily="34" charset="-122"/>
                <a:cs typeface="Calibri" pitchFamily="34" charset="-120"/>
              </a:rPr>
              <a:t>React 19 SPA (Vite)</a:t>
            </a:r>
            <a:endParaRPr lang="en-US" sz="1050" dirty="0"/>
          </a:p>
          <a:p>
            <a:pPr algn="ctr">
              <a:lnSpc>
                <a:spcPct val="120000"/>
              </a:lnSpc>
            </a:pPr>
            <a:r>
              <a:rPr lang="en-US" sz="1050" dirty="0">
                <a:solidFill>
                  <a:srgbClr val="1F2937"/>
                </a:solidFill>
                <a:latin typeface="Calibri" pitchFamily="34" charset="0"/>
                <a:ea typeface="Calibri" pitchFamily="34" charset="-122"/>
                <a:cs typeface="Calibri" pitchFamily="34" charset="-120"/>
              </a:rPr>
              <a:t>Axios client · JWT in headers</a:t>
            </a:r>
            <a:endParaRPr lang="en-US" sz="1050" dirty="0"/>
          </a:p>
        </p:txBody>
      </p:sp>
      <p:sp>
        <p:nvSpPr>
          <p:cNvPr id="8" name="Shape 6"/>
          <p:cNvSpPr/>
          <p:nvPr/>
        </p:nvSpPr>
        <p:spPr>
          <a:xfrm>
            <a:off x="2980944" y="2240280"/>
            <a:ext cx="576072" cy="182880"/>
          </a:xfrm>
          <a:prstGeom prst="rightArrow">
            <a:avLst/>
          </a:prstGeom>
          <a:solidFill>
            <a:srgbClr val="E8A33D"/>
          </a:solidFill>
        </p:spPr>
        <p:txBody>
          <a:bodyPr/>
          <a:lstStyle/>
          <a:p>
            <a:endParaRPr lang="en-US"/>
          </a:p>
        </p:txBody>
      </p:sp>
      <p:sp>
        <p:nvSpPr>
          <p:cNvPr id="9" name="Shape 7"/>
          <p:cNvSpPr/>
          <p:nvPr/>
        </p:nvSpPr>
        <p:spPr>
          <a:xfrm>
            <a:off x="3611880" y="1828800"/>
            <a:ext cx="2377440" cy="1005840"/>
          </a:xfrm>
          <a:prstGeom prst="roundRect">
            <a:avLst>
              <a:gd name="adj" fmla="val 9091"/>
            </a:avLst>
          </a:prstGeom>
          <a:solidFill>
            <a:srgbClr val="FFFFFF"/>
          </a:solidFill>
          <a:ln w="19050">
            <a:solidFill>
              <a:srgbClr val="1E2761"/>
            </a:solidFill>
            <a:prstDash val="solid"/>
          </a:ln>
        </p:spPr>
        <p:txBody>
          <a:bodyPr/>
          <a:lstStyle/>
          <a:p>
            <a:endParaRPr lang="en-US"/>
          </a:p>
        </p:txBody>
      </p:sp>
      <p:sp>
        <p:nvSpPr>
          <p:cNvPr id="10" name="Text 8"/>
          <p:cNvSpPr/>
          <p:nvPr/>
        </p:nvSpPr>
        <p:spPr>
          <a:xfrm>
            <a:off x="3611880" y="1828800"/>
            <a:ext cx="2377440" cy="320040"/>
          </a:xfrm>
          <a:prstGeom prst="rect">
            <a:avLst/>
          </a:prstGeom>
          <a:noFill/>
        </p:spPr>
        <p:txBody>
          <a:bodyPr wrap="square" lIns="0" tIns="0" rIns="0" bIns="0" rtlCol="0" anchor="b"/>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Backend</a:t>
            </a:r>
            <a:endParaRPr lang="en-US" sz="1300" dirty="0"/>
          </a:p>
        </p:txBody>
      </p:sp>
      <p:sp>
        <p:nvSpPr>
          <p:cNvPr id="11" name="Text 9"/>
          <p:cNvSpPr/>
          <p:nvPr/>
        </p:nvSpPr>
        <p:spPr>
          <a:xfrm>
            <a:off x="3611880" y="2194560"/>
            <a:ext cx="2377440" cy="594360"/>
          </a:xfrm>
          <a:prstGeom prst="rect">
            <a:avLst/>
          </a:prstGeom>
          <a:noFill/>
        </p:spPr>
        <p:txBody>
          <a:bodyPr wrap="square" lIns="0" tIns="0" rIns="0" bIns="0" rtlCol="0" anchor="t"/>
          <a:lstStyle/>
          <a:p>
            <a:pPr algn="ctr">
              <a:lnSpc>
                <a:spcPct val="120000"/>
              </a:lnSpc>
            </a:pPr>
            <a:r>
              <a:rPr lang="en-US" sz="1050" dirty="0">
                <a:solidFill>
                  <a:srgbClr val="1F2937"/>
                </a:solidFill>
                <a:latin typeface="Calibri" pitchFamily="34" charset="0"/>
                <a:ea typeface="Calibri" pitchFamily="34" charset="-122"/>
                <a:cs typeface="Calibri" pitchFamily="34" charset="-120"/>
              </a:rPr>
              <a:t>Spring Boot 3.5 REST API</a:t>
            </a:r>
            <a:endParaRPr lang="en-US" sz="1050" dirty="0"/>
          </a:p>
          <a:p>
            <a:pPr algn="ctr">
              <a:lnSpc>
                <a:spcPct val="120000"/>
              </a:lnSpc>
            </a:pPr>
            <a:r>
              <a:rPr lang="en-US" sz="1050" dirty="0">
                <a:solidFill>
                  <a:srgbClr val="1F2937"/>
                </a:solidFill>
                <a:latin typeface="Calibri" pitchFamily="34" charset="0"/>
                <a:ea typeface="Calibri" pitchFamily="34" charset="-122"/>
                <a:cs typeface="Calibri" pitchFamily="34" charset="-120"/>
              </a:rPr>
              <a:t>JWT filter → Controller →</a:t>
            </a:r>
            <a:endParaRPr lang="en-US" sz="1050" dirty="0"/>
          </a:p>
          <a:p>
            <a:pPr algn="ctr">
              <a:lnSpc>
                <a:spcPct val="120000"/>
              </a:lnSpc>
            </a:pPr>
            <a:r>
              <a:rPr lang="en-US" sz="1050" dirty="0">
                <a:solidFill>
                  <a:srgbClr val="1F2937"/>
                </a:solidFill>
                <a:latin typeface="Calibri" pitchFamily="34" charset="0"/>
                <a:ea typeface="Calibri" pitchFamily="34" charset="-122"/>
                <a:cs typeface="Calibri" pitchFamily="34" charset="-120"/>
              </a:rPr>
              <a:t>Service → Repository</a:t>
            </a:r>
            <a:endParaRPr lang="en-US" sz="1050" dirty="0"/>
          </a:p>
        </p:txBody>
      </p:sp>
      <p:sp>
        <p:nvSpPr>
          <p:cNvPr id="12" name="Shape 10"/>
          <p:cNvSpPr/>
          <p:nvPr/>
        </p:nvSpPr>
        <p:spPr>
          <a:xfrm>
            <a:off x="6044184" y="2240280"/>
            <a:ext cx="576072" cy="182880"/>
          </a:xfrm>
          <a:prstGeom prst="rightArrow">
            <a:avLst/>
          </a:prstGeom>
          <a:solidFill>
            <a:srgbClr val="E8A33D"/>
          </a:solidFill>
        </p:spPr>
        <p:txBody>
          <a:bodyPr/>
          <a:lstStyle/>
          <a:p>
            <a:endParaRPr lang="en-US"/>
          </a:p>
        </p:txBody>
      </p:sp>
      <p:sp>
        <p:nvSpPr>
          <p:cNvPr id="13" name="Shape 11"/>
          <p:cNvSpPr/>
          <p:nvPr/>
        </p:nvSpPr>
        <p:spPr>
          <a:xfrm>
            <a:off x="6675120" y="1828800"/>
            <a:ext cx="2377440" cy="1005840"/>
          </a:xfrm>
          <a:prstGeom prst="roundRect">
            <a:avLst>
              <a:gd name="adj" fmla="val 9091"/>
            </a:avLst>
          </a:prstGeom>
          <a:solidFill>
            <a:srgbClr val="FFFFFF"/>
          </a:solidFill>
          <a:ln w="19050">
            <a:solidFill>
              <a:srgbClr val="1E2761"/>
            </a:solidFill>
            <a:prstDash val="solid"/>
          </a:ln>
        </p:spPr>
        <p:txBody>
          <a:bodyPr/>
          <a:lstStyle/>
          <a:p>
            <a:endParaRPr lang="en-US"/>
          </a:p>
        </p:txBody>
      </p:sp>
      <p:sp>
        <p:nvSpPr>
          <p:cNvPr id="14" name="Text 12"/>
          <p:cNvSpPr/>
          <p:nvPr/>
        </p:nvSpPr>
        <p:spPr>
          <a:xfrm>
            <a:off x="6675120" y="1828800"/>
            <a:ext cx="2377440" cy="320040"/>
          </a:xfrm>
          <a:prstGeom prst="rect">
            <a:avLst/>
          </a:prstGeom>
          <a:noFill/>
        </p:spPr>
        <p:txBody>
          <a:bodyPr wrap="square" lIns="0" tIns="0" rIns="0" bIns="0" rtlCol="0" anchor="b"/>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Database</a:t>
            </a:r>
            <a:endParaRPr lang="en-US" sz="1300" dirty="0"/>
          </a:p>
        </p:txBody>
      </p:sp>
      <p:sp>
        <p:nvSpPr>
          <p:cNvPr id="15" name="Text 13"/>
          <p:cNvSpPr/>
          <p:nvPr/>
        </p:nvSpPr>
        <p:spPr>
          <a:xfrm>
            <a:off x="6675120" y="2194560"/>
            <a:ext cx="2377440" cy="594360"/>
          </a:xfrm>
          <a:prstGeom prst="rect">
            <a:avLst/>
          </a:prstGeom>
          <a:noFill/>
        </p:spPr>
        <p:txBody>
          <a:bodyPr wrap="square" lIns="0" tIns="0" rIns="0" bIns="0" rtlCol="0" anchor="t"/>
          <a:lstStyle/>
          <a:p>
            <a:pPr algn="ctr">
              <a:lnSpc>
                <a:spcPct val="120000"/>
              </a:lnSpc>
            </a:pPr>
            <a:r>
              <a:rPr lang="en-US" sz="1050" dirty="0">
                <a:solidFill>
                  <a:srgbClr val="1F2937"/>
                </a:solidFill>
                <a:latin typeface="Calibri" pitchFamily="34" charset="0"/>
                <a:ea typeface="Calibri" pitchFamily="34" charset="-122"/>
                <a:cs typeface="Calibri" pitchFamily="34" charset="-120"/>
              </a:rPr>
              <a:t>MySQL 8</a:t>
            </a:r>
            <a:endParaRPr lang="en-US" sz="1050" dirty="0"/>
          </a:p>
          <a:p>
            <a:pPr algn="ctr">
              <a:lnSpc>
                <a:spcPct val="120000"/>
              </a:lnSpc>
            </a:pPr>
            <a:r>
              <a:rPr lang="en-US" sz="1050" dirty="0">
                <a:solidFill>
                  <a:srgbClr val="1F2937"/>
                </a:solidFill>
                <a:latin typeface="Calibri" pitchFamily="34" charset="0"/>
                <a:ea typeface="Calibri" pitchFamily="34" charset="-122"/>
                <a:cs typeface="Calibri" pitchFamily="34" charset="-120"/>
              </a:rPr>
              <a:t>Spring Data JPA / Hibernate</a:t>
            </a:r>
            <a:endParaRPr lang="en-US" sz="1050" dirty="0"/>
          </a:p>
          <a:p>
            <a:pPr algn="ctr">
              <a:lnSpc>
                <a:spcPct val="120000"/>
              </a:lnSpc>
            </a:pPr>
            <a:r>
              <a:rPr lang="en-US" sz="1050" dirty="0">
                <a:solidFill>
                  <a:srgbClr val="1F2937"/>
                </a:solidFill>
                <a:latin typeface="Calibri" pitchFamily="34" charset="0"/>
                <a:ea typeface="Calibri" pitchFamily="34" charset="-122"/>
                <a:cs typeface="Calibri" pitchFamily="34" charset="-120"/>
              </a:rPr>
              <a:t>10 related entities</a:t>
            </a:r>
            <a:endParaRPr lang="en-US" sz="1050" dirty="0"/>
          </a:p>
        </p:txBody>
      </p:sp>
      <p:sp>
        <p:nvSpPr>
          <p:cNvPr id="16" name="Shape 14"/>
          <p:cNvSpPr/>
          <p:nvPr/>
        </p:nvSpPr>
        <p:spPr>
          <a:xfrm>
            <a:off x="9107424" y="2240280"/>
            <a:ext cx="576072" cy="182880"/>
          </a:xfrm>
          <a:prstGeom prst="rightArrow">
            <a:avLst/>
          </a:prstGeom>
          <a:solidFill>
            <a:srgbClr val="E8A33D"/>
          </a:solidFill>
        </p:spPr>
        <p:txBody>
          <a:bodyPr/>
          <a:lstStyle/>
          <a:p>
            <a:endParaRPr lang="en-US"/>
          </a:p>
        </p:txBody>
      </p:sp>
      <p:sp>
        <p:nvSpPr>
          <p:cNvPr id="17" name="Shape 15"/>
          <p:cNvSpPr/>
          <p:nvPr/>
        </p:nvSpPr>
        <p:spPr>
          <a:xfrm>
            <a:off x="9683496" y="1828800"/>
            <a:ext cx="2220957" cy="1005840"/>
          </a:xfrm>
          <a:prstGeom prst="roundRect">
            <a:avLst>
              <a:gd name="adj" fmla="val 9091"/>
            </a:avLst>
          </a:prstGeom>
          <a:solidFill>
            <a:srgbClr val="FFFFFF"/>
          </a:solidFill>
          <a:ln w="19050">
            <a:solidFill>
              <a:srgbClr val="1E2761"/>
            </a:solidFill>
            <a:prstDash val="solid"/>
          </a:ln>
        </p:spPr>
        <p:txBody>
          <a:bodyPr/>
          <a:lstStyle/>
          <a:p>
            <a:endParaRPr lang="en-US"/>
          </a:p>
        </p:txBody>
      </p:sp>
      <p:sp>
        <p:nvSpPr>
          <p:cNvPr id="18" name="Text 16"/>
          <p:cNvSpPr/>
          <p:nvPr/>
        </p:nvSpPr>
        <p:spPr>
          <a:xfrm>
            <a:off x="9605254" y="1828800"/>
            <a:ext cx="2377440" cy="339190"/>
          </a:xfrm>
          <a:prstGeom prst="rect">
            <a:avLst/>
          </a:prstGeom>
          <a:noFill/>
        </p:spPr>
        <p:txBody>
          <a:bodyPr wrap="square" lIns="0" tIns="0" rIns="0" bIns="0" rtlCol="0" anchor="b"/>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External</a:t>
            </a:r>
            <a:r>
              <a:rPr lang="en-US" sz="1300" dirty="0"/>
              <a:t> </a:t>
            </a: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services / APIs</a:t>
            </a:r>
            <a:endParaRPr lang="en-US" sz="1300" dirty="0"/>
          </a:p>
        </p:txBody>
      </p:sp>
      <p:sp>
        <p:nvSpPr>
          <p:cNvPr id="19" name="Text 17"/>
          <p:cNvSpPr/>
          <p:nvPr/>
        </p:nvSpPr>
        <p:spPr>
          <a:xfrm>
            <a:off x="9605254" y="2226995"/>
            <a:ext cx="2377440" cy="548640"/>
          </a:xfrm>
          <a:prstGeom prst="rect">
            <a:avLst/>
          </a:prstGeom>
          <a:noFill/>
        </p:spPr>
        <p:txBody>
          <a:bodyPr wrap="square" lIns="0" tIns="0" rIns="0" bIns="0" rtlCol="0" anchor="t"/>
          <a:lstStyle/>
          <a:p>
            <a:pPr algn="ctr">
              <a:lnSpc>
                <a:spcPct val="120000"/>
              </a:lnSpc>
            </a:pPr>
            <a:r>
              <a:rPr lang="en-US" sz="1050" dirty="0">
                <a:solidFill>
                  <a:srgbClr val="1F2937"/>
                </a:solidFill>
                <a:latin typeface="Calibri" pitchFamily="34" charset="0"/>
                <a:ea typeface="Calibri" pitchFamily="34" charset="-122"/>
                <a:cs typeface="Calibri" pitchFamily="34" charset="-120"/>
              </a:rPr>
              <a:t>SpringDoc </a:t>
            </a:r>
            <a:r>
              <a:rPr lang="en-US" sz="1050" dirty="0" err="1">
                <a:solidFill>
                  <a:srgbClr val="1F2937"/>
                </a:solidFill>
                <a:latin typeface="Calibri" pitchFamily="34" charset="0"/>
                <a:ea typeface="Calibri" pitchFamily="34" charset="-122"/>
                <a:cs typeface="Calibri" pitchFamily="34" charset="-120"/>
              </a:rPr>
              <a:t>OpenAPI</a:t>
            </a:r>
            <a:r>
              <a:rPr lang="en-US" sz="1050" dirty="0">
                <a:solidFill>
                  <a:srgbClr val="1F2937"/>
                </a:solidFill>
                <a:latin typeface="Calibri" pitchFamily="34" charset="0"/>
                <a:ea typeface="Calibri" pitchFamily="34" charset="-122"/>
                <a:cs typeface="Calibri" pitchFamily="34" charset="-120"/>
              </a:rPr>
              <a:t> 3</a:t>
            </a:r>
            <a:endParaRPr lang="en-US" sz="1050" dirty="0"/>
          </a:p>
          <a:p>
            <a:pPr algn="ctr">
              <a:lnSpc>
                <a:spcPct val="120000"/>
              </a:lnSpc>
            </a:pPr>
            <a:r>
              <a:rPr lang="en-US" sz="1050" dirty="0">
                <a:solidFill>
                  <a:srgbClr val="1F2937"/>
                </a:solidFill>
                <a:latin typeface="Calibri" pitchFamily="34" charset="0"/>
                <a:ea typeface="Calibri" pitchFamily="34" charset="-122"/>
                <a:cs typeface="Calibri" pitchFamily="34" charset="-120"/>
              </a:rPr>
              <a:t>Swagger UI docs</a:t>
            </a:r>
            <a:endParaRPr lang="en-US" sz="1050" dirty="0"/>
          </a:p>
          <a:p>
            <a:pPr algn="ctr">
              <a:lnSpc>
                <a:spcPct val="120000"/>
              </a:lnSpc>
            </a:pPr>
            <a:r>
              <a:rPr lang="en-US" sz="1050" dirty="0">
                <a:solidFill>
                  <a:srgbClr val="1F2937"/>
                </a:solidFill>
                <a:latin typeface="Calibri" pitchFamily="34" charset="0"/>
                <a:ea typeface="Calibri" pitchFamily="34" charset="-122"/>
                <a:cs typeface="Calibri" pitchFamily="34" charset="-120"/>
              </a:rPr>
              <a:t>spring-</a:t>
            </a:r>
            <a:r>
              <a:rPr lang="en-US" sz="1050" dirty="0" err="1">
                <a:solidFill>
                  <a:srgbClr val="1F2937"/>
                </a:solidFill>
                <a:latin typeface="Calibri" pitchFamily="34" charset="0"/>
                <a:ea typeface="Calibri" pitchFamily="34" charset="-122"/>
                <a:cs typeface="Calibri" pitchFamily="34" charset="-120"/>
              </a:rPr>
              <a:t>dotenv</a:t>
            </a:r>
            <a:r>
              <a:rPr lang="en-US" sz="1050" dirty="0">
                <a:solidFill>
                  <a:srgbClr val="1F2937"/>
                </a:solidFill>
                <a:latin typeface="Calibri" pitchFamily="34" charset="0"/>
                <a:ea typeface="Calibri" pitchFamily="34" charset="-122"/>
                <a:cs typeface="Calibri" pitchFamily="34" charset="-120"/>
              </a:rPr>
              <a:t> config</a:t>
            </a:r>
            <a:endParaRPr lang="en-US" sz="1050" dirty="0"/>
          </a:p>
        </p:txBody>
      </p:sp>
      <p:sp>
        <p:nvSpPr>
          <p:cNvPr id="20" name="Shape 18"/>
          <p:cNvSpPr/>
          <p:nvPr/>
        </p:nvSpPr>
        <p:spPr>
          <a:xfrm>
            <a:off x="548640" y="3383280"/>
            <a:ext cx="11091672" cy="2651760"/>
          </a:xfrm>
          <a:prstGeom prst="roundRect">
            <a:avLst>
              <a:gd name="adj" fmla="val 3448"/>
            </a:avLst>
          </a:prstGeom>
          <a:solidFill>
            <a:srgbClr val="FFFFFF"/>
          </a:solidFill>
          <a:ln w="12700">
            <a:solidFill>
              <a:srgbClr val="CADCFC"/>
            </a:solidFill>
            <a:prstDash val="solid"/>
          </a:ln>
        </p:spPr>
        <p:txBody>
          <a:bodyPr/>
          <a:lstStyle/>
          <a:p>
            <a:endParaRPr lang="en-US"/>
          </a:p>
        </p:txBody>
      </p:sp>
      <p:sp>
        <p:nvSpPr>
          <p:cNvPr id="21" name="Text 19"/>
          <p:cNvSpPr/>
          <p:nvPr/>
        </p:nvSpPr>
        <p:spPr>
          <a:xfrm>
            <a:off x="822960" y="3474720"/>
            <a:ext cx="1051560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Data flow description</a:t>
            </a:r>
            <a:endParaRPr lang="en-US" sz="1400" dirty="0"/>
          </a:p>
        </p:txBody>
      </p:sp>
      <p:sp>
        <p:nvSpPr>
          <p:cNvPr id="22" name="Text 20"/>
          <p:cNvSpPr/>
          <p:nvPr/>
        </p:nvSpPr>
        <p:spPr>
          <a:xfrm>
            <a:off x="777240" y="4023360"/>
            <a:ext cx="10515600" cy="1737360"/>
          </a:xfrm>
          <a:prstGeom prst="rect">
            <a:avLst/>
          </a:prstGeom>
          <a:noFill/>
        </p:spPr>
        <p:txBody>
          <a:bodyPr wrap="square" lIns="0" tIns="0" rIns="0" bIns="0" rtlCol="0" anchor="ctr"/>
          <a:lstStyle/>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The user acts in the React SPA; Axios sends an HTTP/JSON request to the Spring Boot API with the JWT in the Authorization header.</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JwtAuthenticationFilter validates the token, loads the user via CustomUserDetailsService, and sets the security context; </a:t>
            </a:r>
            <a:r>
              <a:rPr lang="en-US" sz="1400" dirty="0" err="1">
                <a:solidFill>
                  <a:srgbClr val="1F2937"/>
                </a:solidFill>
                <a:latin typeface="Calibri" pitchFamily="34" charset="0"/>
                <a:ea typeface="Calibri" pitchFamily="34" charset="-122"/>
                <a:cs typeface="Calibri" pitchFamily="34" charset="-120"/>
              </a:rPr>
              <a:t>SecurityConfig</a:t>
            </a:r>
            <a:r>
              <a:rPr lang="en-US" sz="1400" dirty="0">
                <a:solidFill>
                  <a:srgbClr val="1F2937"/>
                </a:solidFill>
                <a:latin typeface="Calibri" pitchFamily="34" charset="0"/>
                <a:ea typeface="Calibri" pitchFamily="34" charset="-122"/>
                <a:cs typeface="Calibri" pitchFamily="34" charset="-120"/>
              </a:rPr>
              <a:t> then authorizes the endpoint against the user's role.</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The controller validates the request DTO, delegates to the service layer for business rules, and the service uses a Spring Data JPA repository to read or write MySQL.</a:t>
            </a:r>
            <a:endParaRPr lang="en-US" sz="1400" dirty="0"/>
          </a:p>
          <a:p>
            <a:pPr marL="177800" indent="-177800">
              <a:lnSpc>
                <a:spcPct val="110000"/>
              </a:lnSpc>
              <a:spcAft>
                <a:spcPts val="900"/>
              </a:spcAft>
              <a:buClr>
                <a:schemeClr val="accent2"/>
              </a:buClr>
              <a:buSzPct val="100000"/>
              <a:buChar char="•"/>
            </a:pPr>
            <a:r>
              <a:rPr lang="en-US" sz="1400" dirty="0">
                <a:solidFill>
                  <a:srgbClr val="1F2937"/>
                </a:solidFill>
                <a:latin typeface="Calibri" pitchFamily="34" charset="0"/>
                <a:ea typeface="Calibri" pitchFamily="34" charset="-122"/>
                <a:cs typeface="Calibri" pitchFamily="34" charset="-120"/>
              </a:rPr>
              <a:t>The entity returned is converted to a response DTO by a mapper, serialized to JSON, and rendered by the React page; errors are normalized by GlobalExceptionHandler into a consistent error payload.</a:t>
            </a:r>
            <a:endParaRPr lang="en-US" sz="1400" dirty="0"/>
          </a:p>
        </p:txBody>
      </p:sp>
      <p:sp>
        <p:nvSpPr>
          <p:cNvPr id="23" name="Text 21"/>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07</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MODULES / FEATURES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3293694747"/>
              </p:ext>
            </p:extLst>
          </p:nvPr>
        </p:nvGraphicFramePr>
        <p:xfrm>
          <a:off x="548640" y="1463040"/>
          <a:ext cx="11091672" cy="4663440"/>
        </p:xfrm>
        <a:graphic>
          <a:graphicData uri="http://schemas.openxmlformats.org/drawingml/2006/table">
            <a:tbl>
              <a:tblPr/>
              <a:tblGrid>
                <a:gridCol w="3291840">
                  <a:extLst>
                    <a:ext uri="{9D8B030D-6E8A-4147-A177-3AD203B41FA5}">
                      <a16:colId xmlns:a16="http://schemas.microsoft.com/office/drawing/2014/main" val="20000"/>
                    </a:ext>
                  </a:extLst>
                </a:gridCol>
                <a:gridCol w="7799832">
                  <a:extLst>
                    <a:ext uri="{9D8B030D-6E8A-4147-A177-3AD203B41FA5}">
                      <a16:colId xmlns:a16="http://schemas.microsoft.com/office/drawing/2014/main" val="20001"/>
                    </a:ext>
                  </a:extLst>
                </a:gridCol>
              </a:tblGrid>
              <a:tr h="77724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Module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Purpose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buNone/>
                      </a:pPr>
                      <a:r>
                        <a:rPr lang="en-US" sz="1400" dirty="0"/>
                        <a:t>Authentication &amp; RBAC</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400" dirty="0"/>
                        <a:t>Login, JWT, role-based access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dirty="0"/>
                        <a:t>Plant Management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400" dirty="0"/>
                        <a:t>Add, view, update, delete plants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400" dirty="0"/>
                        <a:t>Care Task Management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400" dirty="0"/>
                        <a:t>Schedule and track care tasks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indent="0">
                        <a:buNone/>
                      </a:pPr>
                      <a:r>
                        <a:rPr lang="en-US" sz="1400" dirty="0"/>
                        <a:t>Health &amp; Environment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400" dirty="0"/>
                        <a:t>Health records and environment data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r h="777240">
                <a:tc>
                  <a:txBody>
                    <a:bodyPr/>
                    <a:lstStyle/>
                    <a:p>
                      <a:pPr marL="0" indent="0">
                        <a:buNone/>
                      </a:pPr>
                      <a:r>
                        <a:rPr lang="en-US" sz="1400" dirty="0"/>
                        <a:t>Consultation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400" dirty="0"/>
                        <a:t>User–specialist interaction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EF3FD"/>
        </a:solidFill>
        <a:effectLst/>
      </p:bgPr>
    </p:bg>
    <p:spTree>
      <p:nvGrpSpPr>
        <p:cNvPr id="1" name=""/>
        <p:cNvGrpSpPr/>
        <p:nvPr/>
      </p:nvGrpSpPr>
      <p:grpSpPr>
        <a:xfrm>
          <a:off x="0" y="0"/>
          <a:ext cx="0" cy="0"/>
          <a:chOff x="0" y="0"/>
          <a:chExt cx="0" cy="0"/>
        </a:xfrm>
      </p:grpSpPr>
      <p:sp>
        <p:nvSpPr>
          <p:cNvPr id="11" name="Shape 9"/>
          <p:cNvSpPr/>
          <p:nvPr/>
        </p:nvSpPr>
        <p:spPr>
          <a:xfrm>
            <a:off x="9235440" y="1645920"/>
            <a:ext cx="2286000" cy="1371600"/>
          </a:xfrm>
          <a:prstGeom prst="roundRect">
            <a:avLst>
              <a:gd name="adj" fmla="val 5333"/>
            </a:avLst>
          </a:prstGeom>
          <a:solidFill>
            <a:srgbClr val="FFFFFF"/>
          </a:solidFill>
          <a:ln w="19050">
            <a:solidFill>
              <a:srgbClr val="1E2761"/>
            </a:solidFill>
            <a:prstDash val="solid"/>
          </a:ln>
        </p:spPr>
        <p:txBody>
          <a:bodyPr/>
          <a:lstStyle/>
          <a:p>
            <a:endParaRPr lang="en-US"/>
          </a:p>
        </p:txBody>
      </p:sp>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08</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DATABASE / DATA MODEL</a:t>
            </a:r>
            <a:endParaRPr lang="en-US" sz="1300" dirty="0"/>
          </a:p>
        </p:txBody>
      </p:sp>
      <p:sp>
        <p:nvSpPr>
          <p:cNvPr id="5" name="Shape 3"/>
          <p:cNvSpPr/>
          <p:nvPr/>
        </p:nvSpPr>
        <p:spPr>
          <a:xfrm>
            <a:off x="822960" y="1645920"/>
            <a:ext cx="2286000" cy="1371600"/>
          </a:xfrm>
          <a:prstGeom prst="roundRect">
            <a:avLst>
              <a:gd name="adj" fmla="val 5333"/>
            </a:avLst>
          </a:prstGeom>
          <a:solidFill>
            <a:srgbClr val="FFFFFF"/>
          </a:solidFill>
          <a:ln w="19050">
            <a:solidFill>
              <a:srgbClr val="1E2761"/>
            </a:solidFill>
            <a:prstDash val="solid"/>
          </a:ln>
        </p:spPr>
        <p:txBody>
          <a:bodyPr/>
          <a:lstStyle/>
          <a:p>
            <a:endParaRPr lang="en-US"/>
          </a:p>
        </p:txBody>
      </p:sp>
      <p:sp>
        <p:nvSpPr>
          <p:cNvPr id="6" name="Text 4"/>
          <p:cNvSpPr/>
          <p:nvPr/>
        </p:nvSpPr>
        <p:spPr>
          <a:xfrm>
            <a:off x="777240" y="1743456"/>
            <a:ext cx="2286000" cy="320040"/>
          </a:xfrm>
          <a:prstGeom prst="rect">
            <a:avLst/>
          </a:prstGeom>
          <a:noFill/>
        </p:spPr>
        <p:txBody>
          <a:bodyPr wrap="square" lIns="0" tIns="0" rIns="0" bIns="0" rtlCol="0" anchor="ctr"/>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User</a:t>
            </a:r>
            <a:endParaRPr lang="en-US" sz="1300" dirty="0"/>
          </a:p>
        </p:txBody>
      </p:sp>
      <p:sp>
        <p:nvSpPr>
          <p:cNvPr id="7" name="Text 5"/>
          <p:cNvSpPr/>
          <p:nvPr/>
        </p:nvSpPr>
        <p:spPr>
          <a:xfrm>
            <a:off x="1226676" y="2039112"/>
            <a:ext cx="1478568" cy="804672"/>
          </a:xfrm>
          <a:prstGeom prst="rect">
            <a:avLst/>
          </a:prstGeom>
          <a:noFill/>
        </p:spPr>
        <p:txBody>
          <a:bodyPr wrap="square" lIns="0" tIns="0" rIns="0" bIns="0" rtlCol="0" anchor="ctr"/>
          <a:lstStyle/>
          <a:p>
            <a:pPr marL="171450" indent="-171450">
              <a:lnSpc>
                <a:spcPct val="130000"/>
              </a:lnSpc>
              <a:buClr>
                <a:schemeClr val="accent2"/>
              </a:buClr>
              <a:buFont typeface="Arial" panose="020B0604020202020204" pitchFamily="34" charset="0"/>
              <a:buChar char="•"/>
            </a:pPr>
            <a:r>
              <a:rPr lang="en-US" sz="1050" dirty="0">
                <a:solidFill>
                  <a:srgbClr val="1F2937"/>
                </a:solidFill>
                <a:latin typeface="Calibri" pitchFamily="34" charset="0"/>
                <a:ea typeface="Calibri" pitchFamily="34" charset="-122"/>
                <a:cs typeface="Calibri" pitchFamily="34" charset="-120"/>
              </a:rPr>
              <a:t>id, username, email</a:t>
            </a:r>
            <a:endParaRPr lang="en-US" sz="1050" dirty="0"/>
          </a:p>
          <a:p>
            <a:pPr marL="171450" indent="-171450">
              <a:lnSpc>
                <a:spcPct val="130000"/>
              </a:lnSpc>
              <a:buClr>
                <a:schemeClr val="accent2"/>
              </a:buClr>
              <a:buFont typeface="Arial" panose="020B0604020202020204" pitchFamily="34" charset="0"/>
              <a:buChar char="•"/>
            </a:pPr>
            <a:r>
              <a:rPr lang="en-US" sz="1050" dirty="0" err="1">
                <a:solidFill>
                  <a:srgbClr val="1F2937"/>
                </a:solidFill>
                <a:latin typeface="Calibri" pitchFamily="34" charset="0"/>
                <a:ea typeface="Calibri" pitchFamily="34" charset="-122"/>
                <a:cs typeface="Calibri" pitchFamily="34" charset="-120"/>
              </a:rPr>
              <a:t>passwordHash</a:t>
            </a:r>
            <a:r>
              <a:rPr lang="en-US" sz="1050" dirty="0">
                <a:solidFill>
                  <a:srgbClr val="1F2937"/>
                </a:solidFill>
                <a:latin typeface="Calibri" pitchFamily="34" charset="0"/>
                <a:ea typeface="Calibri" pitchFamily="34" charset="-122"/>
                <a:cs typeface="Calibri" pitchFamily="34" charset="-120"/>
              </a:rPr>
              <a:t>, role</a:t>
            </a:r>
            <a:endParaRPr lang="en-US" sz="1050" dirty="0"/>
          </a:p>
          <a:p>
            <a:pPr marL="171450" indent="-171450">
              <a:lnSpc>
                <a:spcPct val="130000"/>
              </a:lnSpc>
              <a:buClr>
                <a:schemeClr val="accent2"/>
              </a:buClr>
              <a:buFont typeface="Arial" panose="020B0604020202020204" pitchFamily="34" charset="0"/>
              <a:buChar char="•"/>
            </a:pPr>
            <a:r>
              <a:rPr lang="en-US" sz="1050" dirty="0">
                <a:solidFill>
                  <a:srgbClr val="1F2937"/>
                </a:solidFill>
                <a:latin typeface="Calibri" pitchFamily="34" charset="0"/>
                <a:ea typeface="Calibri" pitchFamily="34" charset="-122"/>
                <a:cs typeface="Calibri" pitchFamily="34" charset="-120"/>
              </a:rPr>
              <a:t>location, </a:t>
            </a:r>
            <a:r>
              <a:rPr lang="en-US" sz="1050" dirty="0" err="1">
                <a:solidFill>
                  <a:srgbClr val="1F2937"/>
                </a:solidFill>
                <a:latin typeface="Calibri" pitchFamily="34" charset="0"/>
                <a:ea typeface="Calibri" pitchFamily="34" charset="-122"/>
                <a:cs typeface="Calibri" pitchFamily="34" charset="-120"/>
              </a:rPr>
              <a:t>timezone</a:t>
            </a:r>
            <a:endParaRPr lang="en-US" sz="1050" dirty="0"/>
          </a:p>
          <a:p>
            <a:pPr marL="171450" indent="-171450">
              <a:lnSpc>
                <a:spcPct val="100000"/>
              </a:lnSpc>
              <a:buClr>
                <a:schemeClr val="accent2"/>
              </a:buClr>
              <a:buFont typeface="Arial" panose="020B0604020202020204" pitchFamily="34" charset="0"/>
              <a:buChar char="•"/>
            </a:pPr>
            <a:r>
              <a:rPr lang="en-US" sz="1050" dirty="0" err="1">
                <a:solidFill>
                  <a:srgbClr val="1F2937"/>
                </a:solidFill>
                <a:latin typeface="Calibri" pitchFamily="34" charset="0"/>
                <a:ea typeface="Calibri" pitchFamily="34" charset="-122"/>
                <a:cs typeface="Calibri" pitchFamily="34" charset="-120"/>
              </a:rPr>
              <a:t>isActive</a:t>
            </a:r>
            <a:r>
              <a:rPr lang="en-US" sz="1050" dirty="0">
                <a:solidFill>
                  <a:srgbClr val="1F2937"/>
                </a:solidFill>
                <a:latin typeface="Calibri" pitchFamily="34" charset="0"/>
                <a:ea typeface="Calibri" pitchFamily="34" charset="-122"/>
                <a:cs typeface="Calibri" pitchFamily="34" charset="-120"/>
              </a:rPr>
              <a:t>, </a:t>
            </a:r>
            <a:r>
              <a:rPr lang="en-US" sz="1050" dirty="0" err="1"/>
              <a:t>emailVerified</a:t>
            </a:r>
            <a:endParaRPr lang="en-US" sz="1050" dirty="0"/>
          </a:p>
        </p:txBody>
      </p:sp>
      <p:sp>
        <p:nvSpPr>
          <p:cNvPr id="8" name="Shape 6"/>
          <p:cNvSpPr/>
          <p:nvPr/>
        </p:nvSpPr>
        <p:spPr>
          <a:xfrm>
            <a:off x="5029200" y="1645920"/>
            <a:ext cx="2286000" cy="1371600"/>
          </a:xfrm>
          <a:prstGeom prst="roundRect">
            <a:avLst>
              <a:gd name="adj" fmla="val 5333"/>
            </a:avLst>
          </a:prstGeom>
          <a:solidFill>
            <a:srgbClr val="FFFFFF"/>
          </a:solidFill>
          <a:ln w="19050">
            <a:solidFill>
              <a:srgbClr val="1E2761"/>
            </a:solidFill>
            <a:prstDash val="solid"/>
          </a:ln>
        </p:spPr>
        <p:txBody>
          <a:bodyPr/>
          <a:lstStyle/>
          <a:p>
            <a:endParaRPr lang="en-US"/>
          </a:p>
        </p:txBody>
      </p:sp>
      <p:sp>
        <p:nvSpPr>
          <p:cNvPr id="9" name="Text 7"/>
          <p:cNvSpPr/>
          <p:nvPr/>
        </p:nvSpPr>
        <p:spPr>
          <a:xfrm>
            <a:off x="9157716" y="1737360"/>
            <a:ext cx="2286000" cy="320040"/>
          </a:xfrm>
          <a:prstGeom prst="rect">
            <a:avLst/>
          </a:prstGeom>
          <a:noFill/>
        </p:spPr>
        <p:txBody>
          <a:bodyPr wrap="square" lIns="0" tIns="0" rIns="0" bIns="0" rtlCol="0" anchor="ctr"/>
          <a:lstStyle/>
          <a:p>
            <a:pPr algn="ct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Species </a:t>
            </a:r>
            <a:endParaRPr lang="en-US" sz="1300" dirty="0"/>
          </a:p>
        </p:txBody>
      </p:sp>
      <p:sp>
        <p:nvSpPr>
          <p:cNvPr id="10" name="Text 8"/>
          <p:cNvSpPr/>
          <p:nvPr/>
        </p:nvSpPr>
        <p:spPr>
          <a:xfrm>
            <a:off x="9673278" y="2103120"/>
            <a:ext cx="1594162" cy="815719"/>
          </a:xfrm>
          <a:prstGeom prst="rect">
            <a:avLst/>
          </a:prstGeom>
          <a:noFill/>
        </p:spPr>
        <p:txBody>
          <a:bodyPr wrap="square" lIns="0" tIns="0" rIns="0" bIns="0" rtlCol="0" anchor="ctr"/>
          <a:lstStyle/>
          <a:p>
            <a:pPr marL="171450" indent="-171450">
              <a:lnSpc>
                <a:spcPct val="130000"/>
              </a:lnSpc>
              <a:buClr>
                <a:schemeClr val="accent2"/>
              </a:buClr>
              <a:buFont typeface="Arial" panose="020B0604020202020204" pitchFamily="34" charset="0"/>
              <a:buChar char="•"/>
            </a:pPr>
            <a:r>
              <a:rPr lang="en-US" sz="1050" dirty="0">
                <a:solidFill>
                  <a:srgbClr val="1F2937"/>
                </a:solidFill>
                <a:latin typeface="Calibri" pitchFamily="34" charset="0"/>
                <a:ea typeface="Calibri" pitchFamily="34" charset="-122"/>
                <a:cs typeface="Calibri" pitchFamily="34" charset="-120"/>
              </a:rPr>
              <a:t>id, </a:t>
            </a:r>
            <a:r>
              <a:rPr lang="en-US" sz="1050" dirty="0" err="1">
                <a:solidFill>
                  <a:srgbClr val="1F2937"/>
                </a:solidFill>
                <a:latin typeface="Calibri" pitchFamily="34" charset="0"/>
                <a:ea typeface="Calibri" pitchFamily="34" charset="-122"/>
                <a:cs typeface="Calibri" pitchFamily="34" charset="-120"/>
              </a:rPr>
              <a:t>commonName</a:t>
            </a:r>
            <a:endParaRPr lang="en-US" sz="1050" dirty="0"/>
          </a:p>
          <a:p>
            <a:pPr marL="171450" indent="-171450">
              <a:lnSpc>
                <a:spcPct val="130000"/>
              </a:lnSpc>
              <a:buClr>
                <a:schemeClr val="accent2"/>
              </a:buClr>
              <a:buFont typeface="Arial" panose="020B0604020202020204" pitchFamily="34" charset="0"/>
              <a:buChar char="•"/>
            </a:pPr>
            <a:r>
              <a:rPr lang="en-US" sz="1050" dirty="0" err="1">
                <a:solidFill>
                  <a:srgbClr val="1F2937"/>
                </a:solidFill>
                <a:latin typeface="Calibri" pitchFamily="34" charset="0"/>
                <a:ea typeface="Calibri" pitchFamily="34" charset="-122"/>
                <a:cs typeface="Calibri" pitchFamily="34" charset="-120"/>
              </a:rPr>
              <a:t>scientificName</a:t>
            </a:r>
            <a:r>
              <a:rPr lang="en-US" sz="1050" dirty="0">
                <a:solidFill>
                  <a:srgbClr val="1F2937"/>
                </a:solidFill>
                <a:latin typeface="Calibri" pitchFamily="34" charset="0"/>
                <a:ea typeface="Calibri" pitchFamily="34" charset="-122"/>
                <a:cs typeface="Calibri" pitchFamily="34" charset="-120"/>
              </a:rPr>
              <a:t>, family</a:t>
            </a:r>
            <a:endParaRPr lang="en-US" sz="1050" dirty="0"/>
          </a:p>
          <a:p>
            <a:pPr marL="171450" indent="-171450">
              <a:lnSpc>
                <a:spcPct val="130000"/>
              </a:lnSpc>
              <a:buClr>
                <a:schemeClr val="accent2"/>
              </a:buClr>
              <a:buFont typeface="Arial" panose="020B0604020202020204" pitchFamily="34" charset="0"/>
              <a:buChar char="•"/>
            </a:pPr>
            <a:r>
              <a:rPr lang="en-US" sz="1050" dirty="0" err="1">
                <a:solidFill>
                  <a:srgbClr val="1F2937"/>
                </a:solidFill>
                <a:latin typeface="Calibri" pitchFamily="34" charset="0"/>
                <a:ea typeface="Calibri" pitchFamily="34" charset="-122"/>
                <a:cs typeface="Calibri" pitchFamily="34" charset="-120"/>
              </a:rPr>
              <a:t>waterFrequencyDays</a:t>
            </a:r>
            <a:endParaRPr lang="en-US" sz="1050" dirty="0"/>
          </a:p>
          <a:p>
            <a:pPr marL="171450" indent="-171450">
              <a:lnSpc>
                <a:spcPct val="130000"/>
              </a:lnSpc>
              <a:buClr>
                <a:schemeClr val="accent2"/>
              </a:buClr>
              <a:buFont typeface="Arial" panose="020B0604020202020204" pitchFamily="34" charset="0"/>
              <a:buChar char="•"/>
            </a:pPr>
            <a:r>
              <a:rPr lang="en-US" sz="1050" dirty="0">
                <a:solidFill>
                  <a:srgbClr val="1F2937"/>
                </a:solidFill>
                <a:latin typeface="Calibri" pitchFamily="34" charset="0"/>
                <a:ea typeface="Calibri" pitchFamily="34" charset="-122"/>
                <a:cs typeface="Calibri" pitchFamily="34" charset="-120"/>
              </a:rPr>
              <a:t>humidity/temp ranges</a:t>
            </a:r>
            <a:endParaRPr lang="en-US" sz="1050" dirty="0"/>
          </a:p>
          <a:p>
            <a:pPr marL="0" indent="0" algn="ctr">
              <a:lnSpc>
                <a:spcPct val="115000"/>
              </a:lnSpc>
              <a:buNone/>
            </a:pPr>
            <a:endParaRPr lang="en-US" sz="1050" dirty="0"/>
          </a:p>
        </p:txBody>
      </p:sp>
      <p:sp>
        <p:nvSpPr>
          <p:cNvPr id="12" name="Text 10"/>
          <p:cNvSpPr/>
          <p:nvPr/>
        </p:nvSpPr>
        <p:spPr>
          <a:xfrm>
            <a:off x="4951476" y="1773936"/>
            <a:ext cx="2286000" cy="320040"/>
          </a:xfrm>
          <a:prstGeom prst="rect">
            <a:avLst/>
          </a:prstGeom>
          <a:noFill/>
        </p:spPr>
        <p:txBody>
          <a:bodyPr wrap="square" lIns="0" tIns="0" rIns="0" bIns="0" rtlCol="0" anchor="ctr"/>
          <a:lstStyle/>
          <a:p>
            <a:pPr marL="0" indent="0" algn="ctr">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Plant</a:t>
            </a:r>
            <a:endParaRPr lang="en-US" sz="1300" dirty="0"/>
          </a:p>
        </p:txBody>
      </p:sp>
      <p:sp>
        <p:nvSpPr>
          <p:cNvPr id="13" name="Text 11"/>
          <p:cNvSpPr/>
          <p:nvPr/>
        </p:nvSpPr>
        <p:spPr>
          <a:xfrm>
            <a:off x="5394960" y="2017647"/>
            <a:ext cx="1666240" cy="901191"/>
          </a:xfrm>
          <a:prstGeom prst="rect">
            <a:avLst/>
          </a:prstGeom>
          <a:noFill/>
        </p:spPr>
        <p:txBody>
          <a:bodyPr wrap="square" lIns="0" tIns="0" rIns="0" bIns="0" rtlCol="0" anchor="ctr"/>
          <a:lstStyle/>
          <a:p>
            <a:pPr marL="171450" indent="-171450">
              <a:lnSpc>
                <a:spcPct val="130000"/>
              </a:lnSpc>
              <a:buClr>
                <a:schemeClr val="accent2"/>
              </a:buClr>
              <a:buFont typeface="Arial" panose="020B0604020202020204" pitchFamily="34" charset="0"/>
              <a:buChar char="•"/>
            </a:pPr>
            <a:r>
              <a:rPr lang="en-US" sz="1050" dirty="0">
                <a:solidFill>
                  <a:srgbClr val="1F2937"/>
                </a:solidFill>
                <a:latin typeface="Calibri" pitchFamily="34" charset="0"/>
                <a:ea typeface="Calibri" pitchFamily="34" charset="-122"/>
                <a:cs typeface="Calibri" pitchFamily="34" charset="-120"/>
              </a:rPr>
              <a:t>id, nickname, location</a:t>
            </a:r>
            <a:endParaRPr lang="en-US" sz="1050" dirty="0"/>
          </a:p>
          <a:p>
            <a:pPr marL="171450" indent="-171450">
              <a:lnSpc>
                <a:spcPct val="130000"/>
              </a:lnSpc>
              <a:buClr>
                <a:schemeClr val="accent2"/>
              </a:buClr>
              <a:buFont typeface="Arial" panose="020B0604020202020204" pitchFamily="34" charset="0"/>
              <a:buChar char="•"/>
            </a:pPr>
            <a:r>
              <a:rPr lang="en-US" sz="1050" dirty="0" err="1">
                <a:solidFill>
                  <a:srgbClr val="1F2937"/>
                </a:solidFill>
                <a:latin typeface="Calibri" pitchFamily="34" charset="0"/>
                <a:ea typeface="Calibri" pitchFamily="34" charset="-122"/>
                <a:cs typeface="Calibri" pitchFamily="34" charset="-120"/>
              </a:rPr>
              <a:t>owner_id</a:t>
            </a:r>
            <a:r>
              <a:rPr lang="en-US" sz="1050" dirty="0">
                <a:solidFill>
                  <a:srgbClr val="1F2937"/>
                </a:solidFill>
                <a:latin typeface="Calibri" pitchFamily="34" charset="0"/>
                <a:ea typeface="Calibri" pitchFamily="34" charset="-122"/>
                <a:cs typeface="Calibri" pitchFamily="34" charset="-120"/>
              </a:rPr>
              <a:t> → User</a:t>
            </a:r>
            <a:endParaRPr lang="en-US" sz="1050" dirty="0"/>
          </a:p>
          <a:p>
            <a:pPr marL="171450" indent="-171450">
              <a:lnSpc>
                <a:spcPct val="130000"/>
              </a:lnSpc>
              <a:buClr>
                <a:schemeClr val="accent2"/>
              </a:buClr>
              <a:buFont typeface="Arial" panose="020B0604020202020204" pitchFamily="34" charset="0"/>
              <a:buChar char="•"/>
            </a:pPr>
            <a:r>
              <a:rPr lang="en-US" sz="1050" dirty="0" err="1">
                <a:solidFill>
                  <a:srgbClr val="1F2937"/>
                </a:solidFill>
                <a:latin typeface="Calibri" pitchFamily="34" charset="0"/>
                <a:ea typeface="Calibri" pitchFamily="34" charset="-122"/>
                <a:cs typeface="Calibri" pitchFamily="34" charset="-120"/>
              </a:rPr>
              <a:t>species_id</a:t>
            </a:r>
            <a:r>
              <a:rPr lang="en-US" sz="1050" dirty="0">
                <a:solidFill>
                  <a:srgbClr val="1F2937"/>
                </a:solidFill>
                <a:latin typeface="Calibri" pitchFamily="34" charset="0"/>
                <a:ea typeface="Calibri" pitchFamily="34" charset="-122"/>
                <a:cs typeface="Calibri" pitchFamily="34" charset="-120"/>
              </a:rPr>
              <a:t> → Species</a:t>
            </a:r>
            <a:endParaRPr lang="en-US" sz="1050" dirty="0"/>
          </a:p>
          <a:p>
            <a:pPr marL="171450" indent="-171450">
              <a:lnSpc>
                <a:spcPct val="130000"/>
              </a:lnSpc>
              <a:buClr>
                <a:schemeClr val="accent2"/>
              </a:buClr>
              <a:buFont typeface="Arial" panose="020B0604020202020204" pitchFamily="34" charset="0"/>
              <a:buChar char="•"/>
            </a:pPr>
            <a:r>
              <a:rPr lang="en-US" sz="1050" dirty="0">
                <a:solidFill>
                  <a:srgbClr val="1F2937"/>
                </a:solidFill>
                <a:latin typeface="Calibri" pitchFamily="34" charset="0"/>
                <a:ea typeface="Calibri" pitchFamily="34" charset="-122"/>
                <a:cs typeface="Calibri" pitchFamily="34" charset="-120"/>
              </a:rPr>
              <a:t>height/width, </a:t>
            </a:r>
            <a:r>
              <a:rPr lang="en-US" sz="1050" dirty="0" err="1">
                <a:solidFill>
                  <a:srgbClr val="1F2937"/>
                </a:solidFill>
                <a:latin typeface="Calibri" pitchFamily="34" charset="0"/>
                <a:ea typeface="Calibri" pitchFamily="34" charset="-122"/>
                <a:cs typeface="Calibri" pitchFamily="34" charset="-120"/>
              </a:rPr>
              <a:t>healthStatus</a:t>
            </a:r>
            <a:endParaRPr lang="en-US" sz="1050" dirty="0"/>
          </a:p>
        </p:txBody>
      </p:sp>
      <p:sp>
        <p:nvSpPr>
          <p:cNvPr id="14" name="Shape 12"/>
          <p:cNvSpPr/>
          <p:nvPr/>
        </p:nvSpPr>
        <p:spPr>
          <a:xfrm>
            <a:off x="3108960" y="2331720"/>
            <a:ext cx="1920240" cy="0"/>
          </a:xfrm>
          <a:prstGeom prst="line">
            <a:avLst/>
          </a:prstGeom>
          <a:noFill/>
          <a:ln w="25400">
            <a:solidFill>
              <a:srgbClr val="E8A33D"/>
            </a:solidFill>
            <a:prstDash val="solid"/>
          </a:ln>
        </p:spPr>
        <p:txBody>
          <a:bodyPr/>
          <a:lstStyle/>
          <a:p>
            <a:endParaRPr lang="en-US"/>
          </a:p>
        </p:txBody>
      </p:sp>
      <p:sp>
        <p:nvSpPr>
          <p:cNvPr id="15" name="Shape 13"/>
          <p:cNvSpPr/>
          <p:nvPr/>
        </p:nvSpPr>
        <p:spPr>
          <a:xfrm>
            <a:off x="7315200" y="2331720"/>
            <a:ext cx="1920240" cy="0"/>
          </a:xfrm>
          <a:prstGeom prst="line">
            <a:avLst/>
          </a:prstGeom>
          <a:noFill/>
          <a:ln w="25400">
            <a:solidFill>
              <a:srgbClr val="E8A33D"/>
            </a:solidFill>
            <a:prstDash val="solid"/>
          </a:ln>
        </p:spPr>
        <p:txBody>
          <a:bodyPr/>
          <a:lstStyle/>
          <a:p>
            <a:endParaRPr lang="en-US"/>
          </a:p>
        </p:txBody>
      </p:sp>
      <p:sp>
        <p:nvSpPr>
          <p:cNvPr id="18" name="Shape 16"/>
          <p:cNvSpPr/>
          <p:nvPr/>
        </p:nvSpPr>
        <p:spPr>
          <a:xfrm>
            <a:off x="548640" y="3383280"/>
            <a:ext cx="11091672" cy="2651760"/>
          </a:xfrm>
          <a:prstGeom prst="roundRect">
            <a:avLst>
              <a:gd name="adj" fmla="val 3448"/>
            </a:avLst>
          </a:prstGeom>
          <a:solidFill>
            <a:srgbClr val="FFFFFF"/>
          </a:solidFill>
        </p:spPr>
        <p:txBody>
          <a:bodyPr/>
          <a:lstStyle/>
          <a:p>
            <a:endParaRPr lang="en-US"/>
          </a:p>
        </p:txBody>
      </p:sp>
      <p:sp>
        <p:nvSpPr>
          <p:cNvPr id="19" name="Text 17"/>
          <p:cNvSpPr/>
          <p:nvPr/>
        </p:nvSpPr>
        <p:spPr>
          <a:xfrm>
            <a:off x="822960" y="3611880"/>
            <a:ext cx="10515600" cy="36576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Key entities &amp; relationships</a:t>
            </a:r>
            <a:endParaRPr lang="en-US" sz="1400" dirty="0"/>
          </a:p>
        </p:txBody>
      </p:sp>
      <p:sp>
        <p:nvSpPr>
          <p:cNvPr id="20" name="Text 18"/>
          <p:cNvSpPr/>
          <p:nvPr/>
        </p:nvSpPr>
        <p:spPr>
          <a:xfrm>
            <a:off x="822960" y="4102865"/>
            <a:ext cx="10515600" cy="1535933"/>
          </a:xfrm>
          <a:prstGeom prst="rect">
            <a:avLst/>
          </a:prstGeom>
          <a:noFill/>
        </p:spPr>
        <p:txBody>
          <a:bodyPr wrap="square" lIns="0" tIns="0" rIns="0" bIns="0" rtlCol="0" anchor="ctr"/>
          <a:lstStyle/>
          <a:p>
            <a:pPr marL="285750" lvl="0" indent="-285750">
              <a:lnSpc>
                <a:spcPct val="200000"/>
              </a:lnSpc>
              <a:buClr>
                <a:schemeClr val="accent2"/>
              </a:buClr>
              <a:buFont typeface="Arial" panose="020B0604020202020204" pitchFamily="34" charset="0"/>
              <a:buChar char="•"/>
            </a:pPr>
            <a:r>
              <a:rPr lang="en-US" sz="1400" b="1" dirty="0"/>
              <a:t>10 entities:</a:t>
            </a:r>
            <a:r>
              <a:rPr lang="en-US" sz="1400" dirty="0"/>
              <a:t> User, Species, Plant, </a:t>
            </a:r>
            <a:r>
              <a:rPr lang="en-US" sz="1400" dirty="0" err="1"/>
              <a:t>CareTask</a:t>
            </a:r>
            <a:r>
              <a:rPr lang="en-US" sz="1400" dirty="0"/>
              <a:t>, </a:t>
            </a:r>
            <a:r>
              <a:rPr lang="en-US" sz="1400" dirty="0" err="1"/>
              <a:t>HealthRecord</a:t>
            </a:r>
            <a:r>
              <a:rPr lang="en-US" sz="1400" dirty="0"/>
              <a:t>, </a:t>
            </a:r>
            <a:r>
              <a:rPr lang="en-US" sz="1400" dirty="0" err="1"/>
              <a:t>EnvironmentData</a:t>
            </a:r>
            <a:r>
              <a:rPr lang="en-US" sz="1400" dirty="0"/>
              <a:t>, </a:t>
            </a:r>
            <a:r>
              <a:rPr lang="en-US" sz="1400" dirty="0" err="1"/>
              <a:t>CommunityPost</a:t>
            </a:r>
            <a:r>
              <a:rPr lang="en-US" sz="1400" dirty="0"/>
              <a:t>, Comment, Consultation, Notification. </a:t>
            </a:r>
          </a:p>
          <a:p>
            <a:pPr marL="285750" lvl="0" indent="-285750">
              <a:lnSpc>
                <a:spcPct val="200000"/>
              </a:lnSpc>
              <a:buClr>
                <a:schemeClr val="accent2"/>
              </a:buClr>
              <a:buFont typeface="Arial" panose="020B0604020202020204" pitchFamily="34" charset="0"/>
              <a:buChar char="•"/>
            </a:pPr>
            <a:r>
              <a:rPr lang="en-US" sz="1400" b="1" dirty="0"/>
              <a:t>User → Plant:</a:t>
            </a:r>
            <a:r>
              <a:rPr lang="en-US" sz="1400" dirty="0"/>
              <a:t> One user can own multiple plants. </a:t>
            </a:r>
          </a:p>
          <a:p>
            <a:pPr marL="285750" lvl="0" indent="-285750">
              <a:lnSpc>
                <a:spcPct val="200000"/>
              </a:lnSpc>
              <a:buClr>
                <a:schemeClr val="accent2"/>
              </a:buClr>
              <a:buFont typeface="Arial" panose="020B0604020202020204" pitchFamily="34" charset="0"/>
              <a:buChar char="•"/>
            </a:pPr>
            <a:r>
              <a:rPr lang="en-US" sz="1400" b="1" dirty="0"/>
              <a:t>Species → Plant:</a:t>
            </a:r>
            <a:r>
              <a:rPr lang="en-US" sz="1400" dirty="0"/>
              <a:t> One species can be associated with multiple plants. </a:t>
            </a:r>
          </a:p>
          <a:p>
            <a:pPr marL="285750" lvl="0" indent="-285750">
              <a:lnSpc>
                <a:spcPct val="200000"/>
              </a:lnSpc>
              <a:buClr>
                <a:schemeClr val="accent2"/>
              </a:buClr>
              <a:buFont typeface="Arial" panose="020B0604020202020204" pitchFamily="34" charset="0"/>
              <a:buChar char="•"/>
            </a:pPr>
            <a:r>
              <a:rPr lang="en-US" sz="1400" b="1" dirty="0"/>
              <a:t>Plant → Care/Health/Environment:</a:t>
            </a:r>
            <a:r>
              <a:rPr lang="en-US" sz="1400" dirty="0"/>
              <a:t> Plant records connect to care tasks, health records and environmental data.</a:t>
            </a:r>
          </a:p>
        </p:txBody>
      </p:sp>
      <p:sp>
        <p:nvSpPr>
          <p:cNvPr id="21" name="Text 19"/>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 name="Shape 13">
            <a:extLst>
              <a:ext uri="{FF2B5EF4-FFF2-40B4-BE49-F238E27FC236}">
                <a16:creationId xmlns:a16="http://schemas.microsoft.com/office/drawing/2014/main" id="{044F8823-E6F8-14A3-F580-9A69E0F5A466}"/>
              </a:ext>
            </a:extLst>
          </p:cNvPr>
          <p:cNvSpPr/>
          <p:nvPr/>
        </p:nvSpPr>
        <p:spPr>
          <a:xfrm>
            <a:off x="5355184" y="1600200"/>
            <a:ext cx="1481328" cy="914400"/>
          </a:xfrm>
          <a:prstGeom prst="roundRect">
            <a:avLst>
              <a:gd name="adj" fmla="val 8000"/>
            </a:avLst>
          </a:prstGeom>
          <a:solidFill>
            <a:srgbClr val="EDF1FC"/>
          </a:solidFill>
          <a:ln w="12700">
            <a:solidFill>
              <a:srgbClr val="D9E0F2"/>
            </a:solidFill>
            <a:prstDash val="solid"/>
          </a:ln>
        </p:spPr>
        <p:txBody>
          <a:bodyPr/>
          <a:lstStyle/>
          <a:p>
            <a:endParaRPr lang="en-US"/>
          </a:p>
        </p:txBody>
      </p:sp>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09</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APPLICATION WORKFLOW</a:t>
            </a:r>
            <a:endParaRPr lang="en-US" sz="1300" dirty="0"/>
          </a:p>
        </p:txBody>
      </p:sp>
      <p:sp>
        <p:nvSpPr>
          <p:cNvPr id="6" name="Text 4"/>
          <p:cNvSpPr/>
          <p:nvPr/>
        </p:nvSpPr>
        <p:spPr>
          <a:xfrm>
            <a:off x="882396" y="3017520"/>
            <a:ext cx="1828800" cy="9144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Start</a:t>
            </a:r>
            <a:endParaRPr lang="en-US" sz="1250" dirty="0"/>
          </a:p>
        </p:txBody>
      </p:sp>
      <p:sp>
        <p:nvSpPr>
          <p:cNvPr id="18" name="Text 16"/>
          <p:cNvSpPr/>
          <p:nvPr/>
        </p:nvSpPr>
        <p:spPr>
          <a:xfrm>
            <a:off x="9477756" y="3017520"/>
            <a:ext cx="1828800" cy="9144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End</a:t>
            </a:r>
            <a:endParaRPr lang="en-US" sz="1250" dirty="0"/>
          </a:p>
        </p:txBody>
      </p:sp>
      <p:sp>
        <p:nvSpPr>
          <p:cNvPr id="20" name="Text 18"/>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
        <p:nvSpPr>
          <p:cNvPr id="22" name="Shape 4">
            <a:extLst>
              <a:ext uri="{FF2B5EF4-FFF2-40B4-BE49-F238E27FC236}">
                <a16:creationId xmlns:a16="http://schemas.microsoft.com/office/drawing/2014/main" id="{58885066-59EE-885C-21B5-E1977791BEBB}"/>
              </a:ext>
            </a:extLst>
          </p:cNvPr>
          <p:cNvSpPr/>
          <p:nvPr/>
        </p:nvSpPr>
        <p:spPr>
          <a:xfrm>
            <a:off x="472288" y="1600200"/>
            <a:ext cx="1481328" cy="914400"/>
          </a:xfrm>
          <a:prstGeom prst="roundRect">
            <a:avLst>
              <a:gd name="adj" fmla="val 45000"/>
            </a:avLst>
          </a:prstGeom>
          <a:solidFill>
            <a:srgbClr val="22306B"/>
          </a:solidFill>
          <a:ln w="12700">
            <a:solidFill>
              <a:srgbClr val="22306B"/>
            </a:solidFill>
            <a:prstDash val="solid"/>
          </a:ln>
        </p:spPr>
        <p:txBody>
          <a:bodyPr/>
          <a:lstStyle/>
          <a:p>
            <a:endParaRPr lang="en-US"/>
          </a:p>
        </p:txBody>
      </p:sp>
      <p:sp>
        <p:nvSpPr>
          <p:cNvPr id="24" name="Shape 7">
            <a:extLst>
              <a:ext uri="{FF2B5EF4-FFF2-40B4-BE49-F238E27FC236}">
                <a16:creationId xmlns:a16="http://schemas.microsoft.com/office/drawing/2014/main" id="{47B217CC-F42F-2EDC-0D2F-5C9D3F60850E}"/>
              </a:ext>
            </a:extLst>
          </p:cNvPr>
          <p:cNvSpPr/>
          <p:nvPr/>
        </p:nvSpPr>
        <p:spPr>
          <a:xfrm>
            <a:off x="2099920" y="1600200"/>
            <a:ext cx="1481328" cy="914400"/>
          </a:xfrm>
          <a:prstGeom prst="roundRect">
            <a:avLst>
              <a:gd name="adj" fmla="val 8000"/>
            </a:avLst>
          </a:prstGeom>
          <a:solidFill>
            <a:srgbClr val="EDF1FC"/>
          </a:solidFill>
          <a:ln w="12700">
            <a:solidFill>
              <a:srgbClr val="D9E0F2"/>
            </a:solidFill>
            <a:prstDash val="solid"/>
          </a:ln>
        </p:spPr>
        <p:txBody>
          <a:bodyPr/>
          <a:lstStyle/>
          <a:p>
            <a:endParaRPr lang="en-US"/>
          </a:p>
        </p:txBody>
      </p:sp>
      <p:sp>
        <p:nvSpPr>
          <p:cNvPr id="26" name="Shape 10">
            <a:extLst>
              <a:ext uri="{FF2B5EF4-FFF2-40B4-BE49-F238E27FC236}">
                <a16:creationId xmlns:a16="http://schemas.microsoft.com/office/drawing/2014/main" id="{102E8647-D1FD-7DF3-CC93-2DB0585DB758}"/>
              </a:ext>
            </a:extLst>
          </p:cNvPr>
          <p:cNvSpPr/>
          <p:nvPr/>
        </p:nvSpPr>
        <p:spPr>
          <a:xfrm>
            <a:off x="3727552" y="1600200"/>
            <a:ext cx="1481328" cy="914400"/>
          </a:xfrm>
          <a:prstGeom prst="roundRect">
            <a:avLst>
              <a:gd name="adj" fmla="val 8000"/>
            </a:avLst>
          </a:prstGeom>
          <a:solidFill>
            <a:srgbClr val="EDF1FC"/>
          </a:solidFill>
          <a:ln w="12700">
            <a:solidFill>
              <a:srgbClr val="D9E0F2"/>
            </a:solidFill>
            <a:prstDash val="solid"/>
          </a:ln>
        </p:spPr>
        <p:txBody>
          <a:bodyPr/>
          <a:lstStyle/>
          <a:p>
            <a:endParaRPr lang="en-US"/>
          </a:p>
        </p:txBody>
      </p:sp>
      <p:sp>
        <p:nvSpPr>
          <p:cNvPr id="28" name="Text 14">
            <a:extLst>
              <a:ext uri="{FF2B5EF4-FFF2-40B4-BE49-F238E27FC236}">
                <a16:creationId xmlns:a16="http://schemas.microsoft.com/office/drawing/2014/main" id="{8C008A21-2D00-6F8D-D73D-8B07E8B3BC9B}"/>
              </a:ext>
            </a:extLst>
          </p:cNvPr>
          <p:cNvSpPr/>
          <p:nvPr/>
        </p:nvSpPr>
        <p:spPr>
          <a:xfrm>
            <a:off x="5423764" y="1705356"/>
            <a:ext cx="1193292" cy="914400"/>
          </a:xfrm>
          <a:prstGeom prst="rect">
            <a:avLst/>
          </a:prstGeom>
          <a:noFill/>
          <a:ln/>
        </p:spPr>
        <p:txBody>
          <a:bodyPr wrap="square" lIns="0" tIns="0" rIns="0" bIns="0" rtlCol="0" anchor="ctr"/>
          <a:lstStyle/>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Care tasks</a:t>
            </a:r>
          </a:p>
          <a:p>
            <a:pPr algn="ctr"/>
            <a:r>
              <a:rPr lang="en-US" sz="1050" dirty="0"/>
              <a:t>Schedule &amp; Track Care</a:t>
            </a:r>
          </a:p>
          <a:p>
            <a:pPr marL="0" indent="0" algn="ctr">
              <a:lnSpc>
                <a:spcPct val="100000"/>
              </a:lnSpc>
              <a:buNone/>
            </a:pPr>
            <a:endParaRPr lang="en-US" sz="1050" dirty="0"/>
          </a:p>
        </p:txBody>
      </p:sp>
      <p:sp>
        <p:nvSpPr>
          <p:cNvPr id="30" name="Shape 16">
            <a:extLst>
              <a:ext uri="{FF2B5EF4-FFF2-40B4-BE49-F238E27FC236}">
                <a16:creationId xmlns:a16="http://schemas.microsoft.com/office/drawing/2014/main" id="{4BD9FD5F-CC92-80C6-C61B-98754B18908D}"/>
              </a:ext>
            </a:extLst>
          </p:cNvPr>
          <p:cNvSpPr/>
          <p:nvPr/>
        </p:nvSpPr>
        <p:spPr>
          <a:xfrm>
            <a:off x="6982816" y="1600200"/>
            <a:ext cx="1481328" cy="914400"/>
          </a:xfrm>
          <a:prstGeom prst="roundRect">
            <a:avLst>
              <a:gd name="adj" fmla="val 8000"/>
            </a:avLst>
          </a:prstGeom>
          <a:solidFill>
            <a:srgbClr val="EDF1FC"/>
          </a:solidFill>
          <a:ln w="12700">
            <a:solidFill>
              <a:srgbClr val="D9E0F2"/>
            </a:solidFill>
            <a:prstDash val="solid"/>
          </a:ln>
        </p:spPr>
        <p:txBody>
          <a:bodyPr/>
          <a:lstStyle/>
          <a:p>
            <a:endParaRPr lang="en-US"/>
          </a:p>
        </p:txBody>
      </p:sp>
      <p:sp>
        <p:nvSpPr>
          <p:cNvPr id="32" name="Shape 19">
            <a:extLst>
              <a:ext uri="{FF2B5EF4-FFF2-40B4-BE49-F238E27FC236}">
                <a16:creationId xmlns:a16="http://schemas.microsoft.com/office/drawing/2014/main" id="{D4D29E05-0280-9B9A-EA44-56CAD50D845A}"/>
              </a:ext>
            </a:extLst>
          </p:cNvPr>
          <p:cNvSpPr/>
          <p:nvPr/>
        </p:nvSpPr>
        <p:spPr>
          <a:xfrm>
            <a:off x="8610448" y="1600200"/>
            <a:ext cx="1481328" cy="914400"/>
          </a:xfrm>
          <a:prstGeom prst="roundRect">
            <a:avLst>
              <a:gd name="adj" fmla="val 8000"/>
            </a:avLst>
          </a:prstGeom>
          <a:solidFill>
            <a:srgbClr val="EDF1FC"/>
          </a:solidFill>
          <a:ln w="12700">
            <a:solidFill>
              <a:srgbClr val="D9E0F2"/>
            </a:solidFill>
            <a:prstDash val="solid"/>
          </a:ln>
        </p:spPr>
        <p:txBody>
          <a:bodyPr/>
          <a:lstStyle/>
          <a:p>
            <a:endParaRPr lang="en-US"/>
          </a:p>
        </p:txBody>
      </p:sp>
      <p:sp>
        <p:nvSpPr>
          <p:cNvPr id="34" name="Shape 22">
            <a:extLst>
              <a:ext uri="{FF2B5EF4-FFF2-40B4-BE49-F238E27FC236}">
                <a16:creationId xmlns:a16="http://schemas.microsoft.com/office/drawing/2014/main" id="{7FE3A973-3393-19A4-D6DD-53D2A73035D4}"/>
              </a:ext>
            </a:extLst>
          </p:cNvPr>
          <p:cNvSpPr/>
          <p:nvPr/>
        </p:nvSpPr>
        <p:spPr>
          <a:xfrm>
            <a:off x="10238080" y="1600200"/>
            <a:ext cx="1481328" cy="914400"/>
          </a:xfrm>
          <a:prstGeom prst="roundRect">
            <a:avLst>
              <a:gd name="adj" fmla="val 45000"/>
            </a:avLst>
          </a:prstGeom>
          <a:solidFill>
            <a:srgbClr val="22306B"/>
          </a:solidFill>
          <a:ln w="12700">
            <a:solidFill>
              <a:srgbClr val="22306B"/>
            </a:solidFill>
            <a:prstDash val="solid"/>
          </a:ln>
        </p:spPr>
        <p:txBody>
          <a:bodyPr/>
          <a:lstStyle/>
          <a:p>
            <a:endParaRPr lang="en-US"/>
          </a:p>
        </p:txBody>
      </p:sp>
      <p:sp>
        <p:nvSpPr>
          <p:cNvPr id="36" name="Shape 6">
            <a:extLst>
              <a:ext uri="{FF2B5EF4-FFF2-40B4-BE49-F238E27FC236}">
                <a16:creationId xmlns:a16="http://schemas.microsoft.com/office/drawing/2014/main" id="{76E1F8F1-7659-4362-8712-57F6E5780F9C}"/>
              </a:ext>
            </a:extLst>
          </p:cNvPr>
          <p:cNvSpPr/>
          <p:nvPr/>
        </p:nvSpPr>
        <p:spPr>
          <a:xfrm>
            <a:off x="1994764" y="1975104"/>
            <a:ext cx="137160" cy="164592"/>
          </a:xfrm>
          <a:prstGeom prst="rightArrow">
            <a:avLst/>
          </a:prstGeom>
          <a:solidFill>
            <a:srgbClr val="22306B"/>
          </a:solidFill>
          <a:ln/>
        </p:spPr>
        <p:txBody>
          <a:bodyPr/>
          <a:lstStyle/>
          <a:p>
            <a:endParaRPr lang="en-US"/>
          </a:p>
        </p:txBody>
      </p:sp>
      <p:sp>
        <p:nvSpPr>
          <p:cNvPr id="38" name="Shape 6">
            <a:extLst>
              <a:ext uri="{FF2B5EF4-FFF2-40B4-BE49-F238E27FC236}">
                <a16:creationId xmlns:a16="http://schemas.microsoft.com/office/drawing/2014/main" id="{557D64C3-0C84-4F30-B597-BF6A33EAC3A5}"/>
              </a:ext>
            </a:extLst>
          </p:cNvPr>
          <p:cNvSpPr/>
          <p:nvPr/>
        </p:nvSpPr>
        <p:spPr>
          <a:xfrm>
            <a:off x="3590392" y="1962912"/>
            <a:ext cx="137160" cy="164592"/>
          </a:xfrm>
          <a:prstGeom prst="rightArrow">
            <a:avLst/>
          </a:prstGeom>
          <a:solidFill>
            <a:srgbClr val="22306B"/>
          </a:solidFill>
          <a:ln/>
        </p:spPr>
        <p:txBody>
          <a:bodyPr/>
          <a:lstStyle/>
          <a:p>
            <a:endParaRPr lang="en-US"/>
          </a:p>
        </p:txBody>
      </p:sp>
      <p:sp>
        <p:nvSpPr>
          <p:cNvPr id="42" name="Shape 6">
            <a:extLst>
              <a:ext uri="{FF2B5EF4-FFF2-40B4-BE49-F238E27FC236}">
                <a16:creationId xmlns:a16="http://schemas.microsoft.com/office/drawing/2014/main" id="{2320107D-7F3A-0291-A14D-EC216198129A}"/>
              </a:ext>
            </a:extLst>
          </p:cNvPr>
          <p:cNvSpPr/>
          <p:nvPr/>
        </p:nvSpPr>
        <p:spPr>
          <a:xfrm>
            <a:off x="5218024" y="1956014"/>
            <a:ext cx="137160" cy="164592"/>
          </a:xfrm>
          <a:prstGeom prst="rightArrow">
            <a:avLst/>
          </a:prstGeom>
          <a:solidFill>
            <a:srgbClr val="22306B"/>
          </a:solidFill>
          <a:ln/>
        </p:spPr>
        <p:txBody>
          <a:bodyPr/>
          <a:lstStyle/>
          <a:p>
            <a:endParaRPr lang="en-US"/>
          </a:p>
        </p:txBody>
      </p:sp>
      <p:sp>
        <p:nvSpPr>
          <p:cNvPr id="44" name="Shape 6">
            <a:extLst>
              <a:ext uri="{FF2B5EF4-FFF2-40B4-BE49-F238E27FC236}">
                <a16:creationId xmlns:a16="http://schemas.microsoft.com/office/drawing/2014/main" id="{CAF8A722-7866-52B4-32D1-83411EA7B164}"/>
              </a:ext>
            </a:extLst>
          </p:cNvPr>
          <p:cNvSpPr/>
          <p:nvPr/>
        </p:nvSpPr>
        <p:spPr>
          <a:xfrm>
            <a:off x="6836512" y="1997964"/>
            <a:ext cx="137160" cy="164592"/>
          </a:xfrm>
          <a:prstGeom prst="rightArrow">
            <a:avLst/>
          </a:prstGeom>
          <a:solidFill>
            <a:srgbClr val="22306B"/>
          </a:solidFill>
          <a:ln/>
        </p:spPr>
        <p:txBody>
          <a:bodyPr/>
          <a:lstStyle/>
          <a:p>
            <a:endParaRPr lang="en-US"/>
          </a:p>
        </p:txBody>
      </p:sp>
      <p:sp>
        <p:nvSpPr>
          <p:cNvPr id="46" name="Shape 6">
            <a:extLst>
              <a:ext uri="{FF2B5EF4-FFF2-40B4-BE49-F238E27FC236}">
                <a16:creationId xmlns:a16="http://schemas.microsoft.com/office/drawing/2014/main" id="{BE27FC44-6592-6557-5AC1-867D232DB95F}"/>
              </a:ext>
            </a:extLst>
          </p:cNvPr>
          <p:cNvSpPr/>
          <p:nvPr/>
        </p:nvSpPr>
        <p:spPr>
          <a:xfrm>
            <a:off x="8541868" y="1975104"/>
            <a:ext cx="137160" cy="164592"/>
          </a:xfrm>
          <a:prstGeom prst="rightArrow">
            <a:avLst/>
          </a:prstGeom>
          <a:solidFill>
            <a:srgbClr val="22306B"/>
          </a:solidFill>
          <a:ln/>
        </p:spPr>
        <p:txBody>
          <a:bodyPr/>
          <a:lstStyle/>
          <a:p>
            <a:endParaRPr lang="en-US"/>
          </a:p>
        </p:txBody>
      </p:sp>
      <p:sp>
        <p:nvSpPr>
          <p:cNvPr id="48" name="Shape 6">
            <a:extLst>
              <a:ext uri="{FF2B5EF4-FFF2-40B4-BE49-F238E27FC236}">
                <a16:creationId xmlns:a16="http://schemas.microsoft.com/office/drawing/2014/main" id="{B6DA9D7A-F6AD-C972-251E-61021B153870}"/>
              </a:ext>
            </a:extLst>
          </p:cNvPr>
          <p:cNvSpPr/>
          <p:nvPr/>
        </p:nvSpPr>
        <p:spPr>
          <a:xfrm>
            <a:off x="10100920" y="1975104"/>
            <a:ext cx="137160" cy="164592"/>
          </a:xfrm>
          <a:prstGeom prst="rightArrow">
            <a:avLst/>
          </a:prstGeom>
          <a:solidFill>
            <a:srgbClr val="22306B"/>
          </a:solidFill>
          <a:ln/>
        </p:spPr>
        <p:txBody>
          <a:bodyPr/>
          <a:lstStyle/>
          <a:p>
            <a:endParaRPr lang="en-US"/>
          </a:p>
        </p:txBody>
      </p:sp>
      <p:sp>
        <p:nvSpPr>
          <p:cNvPr id="50" name="Text 5">
            <a:extLst>
              <a:ext uri="{FF2B5EF4-FFF2-40B4-BE49-F238E27FC236}">
                <a16:creationId xmlns:a16="http://schemas.microsoft.com/office/drawing/2014/main" id="{E1F26662-3430-212A-FA46-9E60E154798D}"/>
              </a:ext>
            </a:extLst>
          </p:cNvPr>
          <p:cNvSpPr/>
          <p:nvPr/>
        </p:nvSpPr>
        <p:spPr>
          <a:xfrm>
            <a:off x="545440" y="1600200"/>
            <a:ext cx="1335024" cy="914400"/>
          </a:xfrm>
          <a:prstGeom prst="rect">
            <a:avLst/>
          </a:prstGeom>
          <a:noFill/>
          <a:ln/>
        </p:spPr>
        <p:txBody>
          <a:bodyPr wrap="square" lIns="0" tIns="0" rIns="0" bIns="0"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Start</a:t>
            </a:r>
            <a:endParaRPr lang="en-US" sz="1050" dirty="0"/>
          </a:p>
        </p:txBody>
      </p:sp>
      <p:sp>
        <p:nvSpPr>
          <p:cNvPr id="52" name="Text 8">
            <a:extLst>
              <a:ext uri="{FF2B5EF4-FFF2-40B4-BE49-F238E27FC236}">
                <a16:creationId xmlns:a16="http://schemas.microsoft.com/office/drawing/2014/main" id="{AF5E0B63-4866-9D53-B417-D2D41633D6F6}"/>
              </a:ext>
            </a:extLst>
          </p:cNvPr>
          <p:cNvSpPr/>
          <p:nvPr/>
        </p:nvSpPr>
        <p:spPr>
          <a:xfrm>
            <a:off x="2173072" y="1600200"/>
            <a:ext cx="1335024" cy="914400"/>
          </a:xfrm>
          <a:prstGeom prst="rect">
            <a:avLst/>
          </a:prstGeom>
          <a:noFill/>
          <a:ln/>
        </p:spPr>
        <p:txBody>
          <a:bodyPr wrap="square" lIns="0" tIns="0" rIns="0" bIns="0" rtlCol="0" anchor="ctr"/>
          <a:lstStyle/>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Register /</a:t>
            </a:r>
            <a:endParaRPr lang="en-US" sz="1050" dirty="0"/>
          </a:p>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Login (JWT)</a:t>
            </a:r>
            <a:endParaRPr lang="en-US" sz="1050" dirty="0"/>
          </a:p>
        </p:txBody>
      </p:sp>
      <p:sp>
        <p:nvSpPr>
          <p:cNvPr id="54" name="Text 11">
            <a:extLst>
              <a:ext uri="{FF2B5EF4-FFF2-40B4-BE49-F238E27FC236}">
                <a16:creationId xmlns:a16="http://schemas.microsoft.com/office/drawing/2014/main" id="{1B4AB4A5-16E5-CC86-ED1D-2AD4AE936DFE}"/>
              </a:ext>
            </a:extLst>
          </p:cNvPr>
          <p:cNvSpPr/>
          <p:nvPr/>
        </p:nvSpPr>
        <p:spPr>
          <a:xfrm>
            <a:off x="3800704" y="1600200"/>
            <a:ext cx="1335024" cy="914400"/>
          </a:xfrm>
          <a:prstGeom prst="rect">
            <a:avLst/>
          </a:prstGeom>
          <a:noFill/>
          <a:ln/>
        </p:spPr>
        <p:txBody>
          <a:bodyPr wrap="square" lIns="0" tIns="0" rIns="0" bIns="0" rtlCol="0" anchor="ctr"/>
          <a:lstStyle/>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Add species</a:t>
            </a:r>
            <a:endParaRPr lang="en-US" sz="1050" dirty="0"/>
          </a:p>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&amp; plants</a:t>
            </a:r>
            <a:endParaRPr lang="en-US" sz="1050" dirty="0"/>
          </a:p>
        </p:txBody>
      </p:sp>
      <p:sp>
        <p:nvSpPr>
          <p:cNvPr id="56" name="Text 17">
            <a:extLst>
              <a:ext uri="{FF2B5EF4-FFF2-40B4-BE49-F238E27FC236}">
                <a16:creationId xmlns:a16="http://schemas.microsoft.com/office/drawing/2014/main" id="{0815D45B-608F-B265-CD37-18737BD02E14}"/>
              </a:ext>
            </a:extLst>
          </p:cNvPr>
          <p:cNvSpPr/>
          <p:nvPr/>
        </p:nvSpPr>
        <p:spPr>
          <a:xfrm>
            <a:off x="7055968" y="1600200"/>
            <a:ext cx="1335024" cy="914400"/>
          </a:xfrm>
          <a:prstGeom prst="rect">
            <a:avLst/>
          </a:prstGeom>
          <a:noFill/>
          <a:ln/>
        </p:spPr>
        <p:txBody>
          <a:bodyPr wrap="square" lIns="0" tIns="0" rIns="0" bIns="0" rtlCol="0" anchor="ctr"/>
          <a:lstStyle/>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Log health &amp;</a:t>
            </a:r>
            <a:endParaRPr lang="en-US" sz="1050" dirty="0"/>
          </a:p>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environment</a:t>
            </a:r>
            <a:endParaRPr lang="en-US" sz="1050" dirty="0"/>
          </a:p>
        </p:txBody>
      </p:sp>
      <p:sp>
        <p:nvSpPr>
          <p:cNvPr id="58" name="Text 20">
            <a:extLst>
              <a:ext uri="{FF2B5EF4-FFF2-40B4-BE49-F238E27FC236}">
                <a16:creationId xmlns:a16="http://schemas.microsoft.com/office/drawing/2014/main" id="{912F8E22-6EC3-81E0-14C2-5F2A9A967FF2}"/>
              </a:ext>
            </a:extLst>
          </p:cNvPr>
          <p:cNvSpPr/>
          <p:nvPr/>
        </p:nvSpPr>
        <p:spPr>
          <a:xfrm>
            <a:off x="8683600" y="1600200"/>
            <a:ext cx="1335024" cy="914400"/>
          </a:xfrm>
          <a:prstGeom prst="rect">
            <a:avLst/>
          </a:prstGeom>
          <a:noFill/>
          <a:ln/>
        </p:spPr>
        <p:txBody>
          <a:bodyPr wrap="square" lIns="0" tIns="0" rIns="0" bIns="0" rtlCol="0" anchor="ctr"/>
          <a:lstStyle/>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Consult &amp;</a:t>
            </a:r>
            <a:endParaRPr lang="en-US" sz="1050" dirty="0"/>
          </a:p>
          <a:p>
            <a:pPr marL="0" indent="0" algn="ctr">
              <a:lnSpc>
                <a:spcPct val="100000"/>
              </a:lnSpc>
              <a:buNone/>
            </a:pPr>
            <a:r>
              <a:rPr lang="en-US" sz="1050" b="1" dirty="0">
                <a:solidFill>
                  <a:srgbClr val="22306B"/>
                </a:solidFill>
                <a:latin typeface="Calibri" pitchFamily="34" charset="0"/>
                <a:ea typeface="Calibri" pitchFamily="34" charset="-122"/>
                <a:cs typeface="Calibri" pitchFamily="34" charset="-120"/>
              </a:rPr>
              <a:t>community</a:t>
            </a:r>
            <a:endParaRPr lang="en-US" sz="1050" dirty="0"/>
          </a:p>
        </p:txBody>
      </p:sp>
      <p:sp>
        <p:nvSpPr>
          <p:cNvPr id="60" name="Text 23">
            <a:extLst>
              <a:ext uri="{FF2B5EF4-FFF2-40B4-BE49-F238E27FC236}">
                <a16:creationId xmlns:a16="http://schemas.microsoft.com/office/drawing/2014/main" id="{021053F5-D4BB-DD36-D8C6-CB83AE11A3EC}"/>
              </a:ext>
            </a:extLst>
          </p:cNvPr>
          <p:cNvSpPr/>
          <p:nvPr/>
        </p:nvSpPr>
        <p:spPr>
          <a:xfrm>
            <a:off x="10311232" y="1600200"/>
            <a:ext cx="1335024" cy="914400"/>
          </a:xfrm>
          <a:prstGeom prst="rect">
            <a:avLst/>
          </a:prstGeom>
          <a:noFill/>
          <a:ln/>
        </p:spPr>
        <p:txBody>
          <a:bodyPr wrap="square" lIns="0" tIns="0" rIns="0" bIns="0" rtlCol="0" anchor="ctr"/>
          <a:lstStyle/>
          <a:p>
            <a:pPr marL="0" indent="0" algn="ctr">
              <a:lnSpc>
                <a:spcPct val="100000"/>
              </a:lnSpc>
              <a:buNone/>
            </a:pPr>
            <a:r>
              <a:rPr lang="en-US" sz="1050" b="1" dirty="0">
                <a:solidFill>
                  <a:srgbClr val="FFFFFF"/>
                </a:solidFill>
                <a:latin typeface="Calibri" pitchFamily="34" charset="0"/>
                <a:ea typeface="Calibri" pitchFamily="34" charset="-122"/>
                <a:cs typeface="Calibri" pitchFamily="34" charset="-120"/>
              </a:rPr>
              <a:t>End</a:t>
            </a:r>
            <a:endParaRPr lang="en-US" sz="1050" dirty="0"/>
          </a:p>
        </p:txBody>
      </p:sp>
      <p:sp>
        <p:nvSpPr>
          <p:cNvPr id="63" name="Shape 24">
            <a:extLst>
              <a:ext uri="{FF2B5EF4-FFF2-40B4-BE49-F238E27FC236}">
                <a16:creationId xmlns:a16="http://schemas.microsoft.com/office/drawing/2014/main" id="{7F7EDC99-2ED1-1A84-7629-F91D840EF045}"/>
              </a:ext>
            </a:extLst>
          </p:cNvPr>
          <p:cNvSpPr/>
          <p:nvPr/>
        </p:nvSpPr>
        <p:spPr>
          <a:xfrm>
            <a:off x="579297" y="3104388"/>
            <a:ext cx="11109960" cy="2834640"/>
          </a:xfrm>
          <a:prstGeom prst="roundRect">
            <a:avLst>
              <a:gd name="adj" fmla="val 2258"/>
            </a:avLst>
          </a:prstGeom>
          <a:solidFill>
            <a:srgbClr val="FFFFFF"/>
          </a:solidFill>
          <a:ln w="12700">
            <a:solidFill>
              <a:srgbClr val="D9E0F2"/>
            </a:solidFill>
            <a:prstDash val="solid"/>
          </a:ln>
        </p:spPr>
        <p:txBody>
          <a:bodyPr/>
          <a:lstStyle/>
          <a:p>
            <a:endParaRPr lang="en-US" dirty="0"/>
          </a:p>
        </p:txBody>
      </p:sp>
      <p:sp>
        <p:nvSpPr>
          <p:cNvPr id="65" name="TextBox 64">
            <a:extLst>
              <a:ext uri="{FF2B5EF4-FFF2-40B4-BE49-F238E27FC236}">
                <a16:creationId xmlns:a16="http://schemas.microsoft.com/office/drawing/2014/main" id="{B738F93B-2310-3AA3-86BB-439EE122CD7B}"/>
              </a:ext>
            </a:extLst>
          </p:cNvPr>
          <p:cNvSpPr txBox="1"/>
          <p:nvPr/>
        </p:nvSpPr>
        <p:spPr>
          <a:xfrm>
            <a:off x="579296" y="3177540"/>
            <a:ext cx="11066959" cy="2446824"/>
          </a:xfrm>
          <a:prstGeom prst="rect">
            <a:avLst/>
          </a:prstGeom>
          <a:noFill/>
        </p:spPr>
        <p:txBody>
          <a:bodyPr wrap="square" rtlCol="0">
            <a:spAutoFit/>
          </a:bodyPr>
          <a:lstStyle/>
          <a:p>
            <a:pPr marL="177800" indent="-177800">
              <a:lnSpc>
                <a:spcPct val="150000"/>
              </a:lnSpc>
              <a:spcAft>
                <a:spcPts val="900"/>
              </a:spcAft>
              <a:buClr>
                <a:schemeClr val="accent2"/>
              </a:buClr>
              <a:buSzPct val="100000"/>
              <a:buChar char="•"/>
            </a:pPr>
            <a:r>
              <a:rPr lang="en-US" sz="1200" b="1" i="1" dirty="0"/>
              <a:t>Start</a:t>
            </a:r>
            <a:r>
              <a:rPr lang="en-US" sz="1200" i="1" dirty="0"/>
              <a:t> — Visitor lands on the public page; other routes are protected. </a:t>
            </a:r>
          </a:p>
          <a:p>
            <a:pPr marL="177800" indent="-177800">
              <a:lnSpc>
                <a:spcPct val="150000"/>
              </a:lnSpc>
              <a:spcAft>
                <a:spcPts val="900"/>
              </a:spcAft>
              <a:buClr>
                <a:schemeClr val="accent2"/>
              </a:buClr>
              <a:buSzPct val="100000"/>
              <a:buFontTx/>
              <a:buChar char="•"/>
            </a:pPr>
            <a:r>
              <a:rPr lang="en-US" sz="1200" b="1" i="1" dirty="0"/>
              <a:t>Register / Login</a:t>
            </a:r>
            <a:r>
              <a:rPr lang="en-US" sz="1200" i="1" dirty="0"/>
              <a:t> — Secure registration and JWT-based authentication.</a:t>
            </a:r>
          </a:p>
          <a:p>
            <a:pPr marL="171450" lvl="0" indent="-171450">
              <a:lnSpc>
                <a:spcPct val="150000"/>
              </a:lnSpc>
              <a:buClr>
                <a:schemeClr val="accent2"/>
              </a:buClr>
              <a:buFont typeface="Arial" panose="020B0604020202020204" pitchFamily="34" charset="0"/>
              <a:buChar char="•"/>
            </a:pPr>
            <a:r>
              <a:rPr lang="en-US" sz="1200" b="1" i="1" dirty="0"/>
              <a:t>Add Species &amp; Plants</a:t>
            </a:r>
            <a:r>
              <a:rPr lang="en-US" sz="1200" i="1" dirty="0"/>
              <a:t> — Select a species and add plant details. </a:t>
            </a:r>
          </a:p>
          <a:p>
            <a:pPr marL="171450" lvl="0" indent="-171450">
              <a:lnSpc>
                <a:spcPct val="150000"/>
              </a:lnSpc>
              <a:buClr>
                <a:schemeClr val="accent2"/>
              </a:buClr>
              <a:buFont typeface="Arial" panose="020B0604020202020204" pitchFamily="34" charset="0"/>
              <a:buChar char="•"/>
            </a:pPr>
            <a:r>
              <a:rPr lang="en-US" sz="1200" b="1" i="1" dirty="0"/>
              <a:t>Care Tasks</a:t>
            </a:r>
            <a:r>
              <a:rPr lang="en-US" sz="1200" i="1" dirty="0"/>
              <a:t> — Schedule and track watering, fertilizing, pruning, repotting and misting. </a:t>
            </a:r>
          </a:p>
          <a:p>
            <a:pPr marL="171450" lvl="0" indent="-171450">
              <a:lnSpc>
                <a:spcPct val="150000"/>
              </a:lnSpc>
              <a:buClr>
                <a:schemeClr val="accent2"/>
              </a:buClr>
              <a:buFont typeface="Arial" panose="020B0604020202020204" pitchFamily="34" charset="0"/>
              <a:buChar char="•"/>
            </a:pPr>
            <a:r>
              <a:rPr lang="en-US" sz="1200" b="1" i="1" dirty="0"/>
              <a:t>Health &amp; Environment</a:t>
            </a:r>
            <a:r>
              <a:rPr lang="en-US" sz="1200" i="1" dirty="0"/>
              <a:t> — Record plant health and environmental data. </a:t>
            </a:r>
          </a:p>
          <a:p>
            <a:pPr marL="171450" lvl="0" indent="-171450">
              <a:lnSpc>
                <a:spcPct val="150000"/>
              </a:lnSpc>
              <a:buClr>
                <a:schemeClr val="accent2"/>
              </a:buClr>
              <a:buFont typeface="Arial" panose="020B0604020202020204" pitchFamily="34" charset="0"/>
              <a:buChar char="•"/>
            </a:pPr>
            <a:r>
              <a:rPr lang="en-US" sz="1200" b="1" i="1" dirty="0"/>
              <a:t>Consult &amp; Community</a:t>
            </a:r>
            <a:r>
              <a:rPr lang="en-US" sz="1200" i="1" dirty="0"/>
              <a:t> — Connect with specialists, post, comment and receive notifications. </a:t>
            </a:r>
          </a:p>
          <a:p>
            <a:pPr marL="171450" lvl="0" indent="-171450">
              <a:lnSpc>
                <a:spcPct val="150000"/>
              </a:lnSpc>
              <a:buClr>
                <a:schemeClr val="accent2"/>
              </a:buClr>
              <a:buFont typeface="Arial" panose="020B0604020202020204" pitchFamily="34" charset="0"/>
              <a:buChar char="•"/>
            </a:pPr>
            <a:r>
              <a:rPr lang="en-US" sz="1200" b="1" i="1" dirty="0"/>
              <a:t>End</a:t>
            </a:r>
            <a:r>
              <a:rPr lang="en-US" sz="1200" i="1" dirty="0"/>
              <a:t> — Dashboard shows plants, upcoming tasks and health status.</a:t>
            </a:r>
          </a:p>
          <a:p>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KEY FUNCTIONALITY</a:t>
            </a:r>
            <a:endParaRPr lang="en-US" sz="1300" dirty="0"/>
          </a:p>
        </p:txBody>
      </p:sp>
      <p:sp>
        <p:nvSpPr>
          <p:cNvPr id="7" name="Text 5"/>
          <p:cNvSpPr/>
          <p:nvPr/>
        </p:nvSpPr>
        <p:spPr>
          <a:xfrm>
            <a:off x="533400" y="1307592"/>
            <a:ext cx="4538932" cy="457200"/>
          </a:xfrm>
          <a:prstGeom prst="rect">
            <a:avLst/>
          </a:prstGeom>
          <a:noFill/>
        </p:spPr>
        <p:txBody>
          <a:bodyPr wrap="square" lIns="0" tIns="0" rIns="0" bIns="0" rtlCol="0" anchor="ctr"/>
          <a:lstStyle/>
          <a:p>
            <a:r>
              <a:rPr lang="en-US" sz="2000" b="1" dirty="0">
                <a:solidFill>
                  <a:srgbClr val="22306B"/>
                </a:solidFill>
                <a:latin typeface="Georgia" pitchFamily="34" charset="0"/>
                <a:ea typeface="Georgia" pitchFamily="34" charset="-122"/>
                <a:cs typeface="Georgia" pitchFamily="34" charset="-120"/>
              </a:rPr>
              <a:t>Authentication &amp; Role-Based Access</a:t>
            </a:r>
            <a:endParaRPr lang="en-US" sz="2000" dirty="0"/>
          </a:p>
        </p:txBody>
      </p:sp>
      <p:sp>
        <p:nvSpPr>
          <p:cNvPr id="8" name="Text 6"/>
          <p:cNvSpPr/>
          <p:nvPr/>
        </p:nvSpPr>
        <p:spPr>
          <a:xfrm>
            <a:off x="548640" y="2057400"/>
            <a:ext cx="521208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What the user can do</a:t>
            </a:r>
            <a:endParaRPr lang="en-US" sz="1400" dirty="0"/>
          </a:p>
        </p:txBody>
      </p:sp>
      <p:sp>
        <p:nvSpPr>
          <p:cNvPr id="9" name="Shape 7"/>
          <p:cNvSpPr/>
          <p:nvPr/>
        </p:nvSpPr>
        <p:spPr>
          <a:xfrm>
            <a:off x="594360" y="2542032"/>
            <a:ext cx="100584" cy="100584"/>
          </a:xfrm>
          <a:prstGeom prst="ellipse">
            <a:avLst/>
          </a:prstGeom>
          <a:solidFill>
            <a:srgbClr val="E8A33D"/>
          </a:solidFill>
        </p:spPr>
        <p:txBody>
          <a:bodyPr/>
          <a:lstStyle/>
          <a:p>
            <a:endParaRPr lang="en-US"/>
          </a:p>
        </p:txBody>
      </p:sp>
      <p:sp>
        <p:nvSpPr>
          <p:cNvPr id="10" name="Text 8"/>
          <p:cNvSpPr/>
          <p:nvPr/>
        </p:nvSpPr>
        <p:spPr>
          <a:xfrm>
            <a:off x="850392" y="2466474"/>
            <a:ext cx="4864608" cy="347472"/>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Register as a plant owner, specialist or administrator</a:t>
            </a:r>
            <a:endParaRPr lang="en-US" sz="1400" i="1" dirty="0"/>
          </a:p>
        </p:txBody>
      </p:sp>
      <p:sp>
        <p:nvSpPr>
          <p:cNvPr id="11" name="Shape 9"/>
          <p:cNvSpPr/>
          <p:nvPr/>
        </p:nvSpPr>
        <p:spPr>
          <a:xfrm>
            <a:off x="594360" y="3090672"/>
            <a:ext cx="100584" cy="100584"/>
          </a:xfrm>
          <a:prstGeom prst="ellipse">
            <a:avLst/>
          </a:prstGeom>
          <a:solidFill>
            <a:srgbClr val="E8A33D"/>
          </a:solidFill>
        </p:spPr>
        <p:txBody>
          <a:bodyPr/>
          <a:lstStyle/>
          <a:p>
            <a:endParaRPr lang="en-US"/>
          </a:p>
        </p:txBody>
      </p:sp>
      <p:sp>
        <p:nvSpPr>
          <p:cNvPr id="12" name="Text 10"/>
          <p:cNvSpPr/>
          <p:nvPr/>
        </p:nvSpPr>
        <p:spPr>
          <a:xfrm>
            <a:off x="859536" y="3044952"/>
            <a:ext cx="4864608" cy="347472"/>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Log in and receive a JWT valid for 24 hours</a:t>
            </a:r>
            <a:endParaRPr lang="en-US" sz="1400" i="1" dirty="0"/>
          </a:p>
        </p:txBody>
      </p:sp>
      <p:sp>
        <p:nvSpPr>
          <p:cNvPr id="13" name="Shape 11"/>
          <p:cNvSpPr/>
          <p:nvPr/>
        </p:nvSpPr>
        <p:spPr>
          <a:xfrm>
            <a:off x="594360" y="3639312"/>
            <a:ext cx="100584" cy="100584"/>
          </a:xfrm>
          <a:prstGeom prst="ellipse">
            <a:avLst/>
          </a:prstGeom>
          <a:solidFill>
            <a:srgbClr val="E8A33D"/>
          </a:solidFill>
        </p:spPr>
        <p:txBody>
          <a:bodyPr/>
          <a:lstStyle/>
          <a:p>
            <a:endParaRPr lang="en-US"/>
          </a:p>
        </p:txBody>
      </p:sp>
      <p:sp>
        <p:nvSpPr>
          <p:cNvPr id="14" name="Text 12"/>
          <p:cNvSpPr/>
          <p:nvPr/>
        </p:nvSpPr>
        <p:spPr>
          <a:xfrm>
            <a:off x="850392" y="3607709"/>
            <a:ext cx="4864608" cy="424795"/>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View and update their own profile from /</a:t>
            </a:r>
            <a:r>
              <a:rPr lang="en-US" sz="1400" i="1" dirty="0" err="1">
                <a:solidFill>
                  <a:srgbClr val="1F2937"/>
                </a:solidFill>
                <a:latin typeface="Calibri" pitchFamily="34" charset="0"/>
                <a:ea typeface="Calibri" pitchFamily="34" charset="-122"/>
                <a:cs typeface="Calibri" pitchFamily="34" charset="-120"/>
              </a:rPr>
              <a:t>api</a:t>
            </a:r>
            <a:r>
              <a:rPr lang="en-US" sz="1400" i="1" dirty="0">
                <a:solidFill>
                  <a:srgbClr val="1F2937"/>
                </a:solidFill>
                <a:latin typeface="Calibri" pitchFamily="34" charset="0"/>
                <a:ea typeface="Calibri" pitchFamily="34" charset="-122"/>
                <a:cs typeface="Calibri" pitchFamily="34" charset="-120"/>
              </a:rPr>
              <a:t>/auth/me</a:t>
            </a:r>
            <a:endParaRPr lang="en-US" sz="1400" i="1" dirty="0"/>
          </a:p>
        </p:txBody>
      </p:sp>
      <p:sp>
        <p:nvSpPr>
          <p:cNvPr id="15" name="Text 13"/>
          <p:cNvSpPr/>
          <p:nvPr/>
        </p:nvSpPr>
        <p:spPr>
          <a:xfrm>
            <a:off x="548640" y="4297680"/>
            <a:ext cx="521208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How it works</a:t>
            </a:r>
            <a:endParaRPr lang="en-US" sz="1400" dirty="0"/>
          </a:p>
        </p:txBody>
      </p:sp>
      <p:sp>
        <p:nvSpPr>
          <p:cNvPr id="16" name="Text 14"/>
          <p:cNvSpPr/>
          <p:nvPr/>
        </p:nvSpPr>
        <p:spPr>
          <a:xfrm>
            <a:off x="548640" y="4663440"/>
            <a:ext cx="5212080" cy="1097280"/>
          </a:xfrm>
          <a:prstGeom prst="rect">
            <a:avLst/>
          </a:prstGeom>
          <a:noFill/>
        </p:spPr>
        <p:txBody>
          <a:bodyPr wrap="square" lIns="0" tIns="0" rIns="0" bIns="0" rtlCol="0" anchor="ctr"/>
          <a:lstStyle/>
          <a:p>
            <a:pPr>
              <a:lnSpc>
                <a:spcPct val="150000"/>
              </a:lnSpc>
            </a:pPr>
            <a:r>
              <a:rPr lang="en-US" sz="1400" i="1" dirty="0"/>
              <a:t>User credentials are securely verified using </a:t>
            </a:r>
            <a:r>
              <a:rPr lang="en-US" sz="1400" b="1" i="1" dirty="0" err="1"/>
              <a:t>BCrypt</a:t>
            </a:r>
            <a:r>
              <a:rPr lang="en-US" sz="1400" i="1" dirty="0"/>
              <a:t>, and successful login generates a </a:t>
            </a:r>
            <a:r>
              <a:rPr lang="en-US" sz="1400" b="1" i="1" dirty="0"/>
              <a:t>JWT token</a:t>
            </a:r>
            <a:r>
              <a:rPr lang="en-US" sz="1400" i="1" dirty="0"/>
              <a:t>.</a:t>
            </a:r>
            <a:br>
              <a:rPr lang="en-US" sz="1400" i="1" dirty="0"/>
            </a:br>
            <a:r>
              <a:rPr lang="en-US" sz="1400" i="1" dirty="0"/>
              <a:t>The token is validated on each request, with </a:t>
            </a:r>
            <a:r>
              <a:rPr lang="en-US" sz="1400" b="1" i="1" dirty="0"/>
              <a:t>role-based access</a:t>
            </a:r>
            <a:r>
              <a:rPr lang="en-US" sz="1400" i="1" dirty="0"/>
              <a:t> controlling the resources available to each user.</a:t>
            </a:r>
          </a:p>
        </p:txBody>
      </p:sp>
      <p:sp>
        <p:nvSpPr>
          <p:cNvPr id="19" name="Text 17"/>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pic>
        <p:nvPicPr>
          <p:cNvPr id="23" name="Picture 22">
            <a:extLst>
              <a:ext uri="{FF2B5EF4-FFF2-40B4-BE49-F238E27FC236}">
                <a16:creationId xmlns:a16="http://schemas.microsoft.com/office/drawing/2014/main" id="{9BAD3496-3680-8DC4-4734-EBFE786F2192}"/>
              </a:ext>
            </a:extLst>
          </p:cNvPr>
          <p:cNvPicPr>
            <a:picLocks noChangeAspect="1"/>
          </p:cNvPicPr>
          <p:nvPr/>
        </p:nvPicPr>
        <p:blipFill>
          <a:blip r:embed="rId3"/>
          <a:stretch>
            <a:fillRect/>
          </a:stretch>
        </p:blipFill>
        <p:spPr>
          <a:xfrm>
            <a:off x="5760720" y="1222798"/>
            <a:ext cx="6146319" cy="41126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AC112-899A-EB3E-C701-59F236FAAEA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7B6719-999E-BCB1-F035-B94E6EE24BB8}"/>
              </a:ext>
            </a:extLst>
          </p:cNvPr>
          <p:cNvSpPr/>
          <p:nvPr/>
        </p:nvSpPr>
        <p:spPr>
          <a:xfrm>
            <a:off x="548640" y="502920"/>
            <a:ext cx="457200" cy="457200"/>
          </a:xfrm>
          <a:prstGeom prst="ellipse">
            <a:avLst/>
          </a:prstGeom>
          <a:solidFill>
            <a:srgbClr val="1E2761"/>
          </a:solidFill>
        </p:spPr>
        <p:txBody>
          <a:bodyPr/>
          <a:lstStyle/>
          <a:p>
            <a:endParaRPr lang="en-US"/>
          </a:p>
        </p:txBody>
      </p:sp>
      <p:sp>
        <p:nvSpPr>
          <p:cNvPr id="3" name="Text 1">
            <a:extLst>
              <a:ext uri="{FF2B5EF4-FFF2-40B4-BE49-F238E27FC236}">
                <a16:creationId xmlns:a16="http://schemas.microsoft.com/office/drawing/2014/main" id="{1C294F00-49DE-C103-843B-A31E6FEBBDE8}"/>
              </a:ext>
            </a:extLst>
          </p:cNvPr>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600" dirty="0"/>
          </a:p>
        </p:txBody>
      </p:sp>
      <p:sp>
        <p:nvSpPr>
          <p:cNvPr id="4" name="Text 2">
            <a:extLst>
              <a:ext uri="{FF2B5EF4-FFF2-40B4-BE49-F238E27FC236}">
                <a16:creationId xmlns:a16="http://schemas.microsoft.com/office/drawing/2014/main" id="{EE89791D-1F1D-80D7-A06D-0F8DE2CEDEBA}"/>
              </a:ext>
            </a:extLst>
          </p:cNvPr>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KEY FUNCTIONALITY</a:t>
            </a:r>
            <a:endParaRPr lang="en-US" sz="1300" dirty="0"/>
          </a:p>
        </p:txBody>
      </p:sp>
      <p:sp>
        <p:nvSpPr>
          <p:cNvPr id="7" name="Text 5">
            <a:extLst>
              <a:ext uri="{FF2B5EF4-FFF2-40B4-BE49-F238E27FC236}">
                <a16:creationId xmlns:a16="http://schemas.microsoft.com/office/drawing/2014/main" id="{94C04A4A-6533-4981-BFBE-A5DD90C67FFD}"/>
              </a:ext>
            </a:extLst>
          </p:cNvPr>
          <p:cNvSpPr/>
          <p:nvPr/>
        </p:nvSpPr>
        <p:spPr>
          <a:xfrm>
            <a:off x="533400" y="1321308"/>
            <a:ext cx="4264900" cy="457200"/>
          </a:xfrm>
          <a:prstGeom prst="rect">
            <a:avLst/>
          </a:prstGeom>
          <a:noFill/>
        </p:spPr>
        <p:txBody>
          <a:bodyPr wrap="square" lIns="0" tIns="0" rIns="0" bIns="0" rtlCol="0" anchor="ctr"/>
          <a:lstStyle/>
          <a:p>
            <a:r>
              <a:rPr lang="en-US" sz="2000" b="1" dirty="0">
                <a:solidFill>
                  <a:srgbClr val="22306B"/>
                </a:solidFill>
                <a:latin typeface="Georgia" pitchFamily="34" charset="0"/>
                <a:ea typeface="Georgia" pitchFamily="34" charset="-122"/>
                <a:cs typeface="Georgia" pitchFamily="34" charset="-120"/>
              </a:rPr>
              <a:t>Plant Collection &amp; Care Task Scheduling</a:t>
            </a:r>
            <a:endParaRPr lang="en-US" sz="2000" dirty="0"/>
          </a:p>
        </p:txBody>
      </p:sp>
      <p:sp>
        <p:nvSpPr>
          <p:cNvPr id="8" name="Text 6">
            <a:extLst>
              <a:ext uri="{FF2B5EF4-FFF2-40B4-BE49-F238E27FC236}">
                <a16:creationId xmlns:a16="http://schemas.microsoft.com/office/drawing/2014/main" id="{0F8B2B0E-6B32-4FA9-E6C6-41E0394943D7}"/>
              </a:ext>
            </a:extLst>
          </p:cNvPr>
          <p:cNvSpPr/>
          <p:nvPr/>
        </p:nvSpPr>
        <p:spPr>
          <a:xfrm>
            <a:off x="548640" y="2018418"/>
            <a:ext cx="521208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What the user can do</a:t>
            </a:r>
            <a:endParaRPr lang="en-US" sz="1400" dirty="0"/>
          </a:p>
        </p:txBody>
      </p:sp>
      <p:sp>
        <p:nvSpPr>
          <p:cNvPr id="9" name="Shape 7">
            <a:extLst>
              <a:ext uri="{FF2B5EF4-FFF2-40B4-BE49-F238E27FC236}">
                <a16:creationId xmlns:a16="http://schemas.microsoft.com/office/drawing/2014/main" id="{EC4CC240-22A3-8E64-CDBD-C548BB49224A}"/>
              </a:ext>
            </a:extLst>
          </p:cNvPr>
          <p:cNvSpPr/>
          <p:nvPr/>
        </p:nvSpPr>
        <p:spPr>
          <a:xfrm>
            <a:off x="594360" y="2542032"/>
            <a:ext cx="100584" cy="100584"/>
          </a:xfrm>
          <a:prstGeom prst="ellipse">
            <a:avLst/>
          </a:prstGeom>
          <a:solidFill>
            <a:srgbClr val="E8A33D"/>
          </a:solidFill>
        </p:spPr>
        <p:txBody>
          <a:bodyPr/>
          <a:lstStyle/>
          <a:p>
            <a:endParaRPr lang="en-US"/>
          </a:p>
        </p:txBody>
      </p:sp>
      <p:sp>
        <p:nvSpPr>
          <p:cNvPr id="10" name="Text 8">
            <a:extLst>
              <a:ext uri="{FF2B5EF4-FFF2-40B4-BE49-F238E27FC236}">
                <a16:creationId xmlns:a16="http://schemas.microsoft.com/office/drawing/2014/main" id="{3BD394F7-F690-1451-CA3D-9B15C62BB180}"/>
              </a:ext>
            </a:extLst>
          </p:cNvPr>
          <p:cNvSpPr/>
          <p:nvPr/>
        </p:nvSpPr>
        <p:spPr>
          <a:xfrm>
            <a:off x="850392" y="2466474"/>
            <a:ext cx="4864608" cy="347472"/>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Add plants with nickname, location, pot size, soil type and growth metrics</a:t>
            </a:r>
            <a:endParaRPr lang="en-US" sz="1400" i="1" dirty="0"/>
          </a:p>
        </p:txBody>
      </p:sp>
      <p:sp>
        <p:nvSpPr>
          <p:cNvPr id="11" name="Shape 9">
            <a:extLst>
              <a:ext uri="{FF2B5EF4-FFF2-40B4-BE49-F238E27FC236}">
                <a16:creationId xmlns:a16="http://schemas.microsoft.com/office/drawing/2014/main" id="{3A1D5A96-0DFF-78F9-5A61-51E1005D97FE}"/>
              </a:ext>
            </a:extLst>
          </p:cNvPr>
          <p:cNvSpPr/>
          <p:nvPr/>
        </p:nvSpPr>
        <p:spPr>
          <a:xfrm>
            <a:off x="594360" y="3090672"/>
            <a:ext cx="100584" cy="100584"/>
          </a:xfrm>
          <a:prstGeom prst="ellipse">
            <a:avLst/>
          </a:prstGeom>
          <a:solidFill>
            <a:srgbClr val="E8A33D"/>
          </a:solidFill>
        </p:spPr>
        <p:txBody>
          <a:bodyPr/>
          <a:lstStyle/>
          <a:p>
            <a:endParaRPr lang="en-US"/>
          </a:p>
        </p:txBody>
      </p:sp>
      <p:sp>
        <p:nvSpPr>
          <p:cNvPr id="12" name="Text 10">
            <a:extLst>
              <a:ext uri="{FF2B5EF4-FFF2-40B4-BE49-F238E27FC236}">
                <a16:creationId xmlns:a16="http://schemas.microsoft.com/office/drawing/2014/main" id="{F8EA2157-6040-7E59-45A2-759CDE968359}"/>
              </a:ext>
            </a:extLst>
          </p:cNvPr>
          <p:cNvSpPr/>
          <p:nvPr/>
        </p:nvSpPr>
        <p:spPr>
          <a:xfrm>
            <a:off x="859536" y="3044952"/>
            <a:ext cx="4864608" cy="347472"/>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Create watering, fertilizing, pruning, repotting and misting tasks</a:t>
            </a:r>
            <a:endParaRPr lang="en-US" sz="1400" i="1" dirty="0"/>
          </a:p>
        </p:txBody>
      </p:sp>
      <p:sp>
        <p:nvSpPr>
          <p:cNvPr id="13" name="Shape 11">
            <a:extLst>
              <a:ext uri="{FF2B5EF4-FFF2-40B4-BE49-F238E27FC236}">
                <a16:creationId xmlns:a16="http://schemas.microsoft.com/office/drawing/2014/main" id="{A35D245D-E559-0F47-D990-F45632F9E5F0}"/>
              </a:ext>
            </a:extLst>
          </p:cNvPr>
          <p:cNvSpPr/>
          <p:nvPr/>
        </p:nvSpPr>
        <p:spPr>
          <a:xfrm>
            <a:off x="594360" y="3639312"/>
            <a:ext cx="100584" cy="100584"/>
          </a:xfrm>
          <a:prstGeom prst="ellipse">
            <a:avLst/>
          </a:prstGeom>
          <a:solidFill>
            <a:srgbClr val="E8A33D"/>
          </a:solidFill>
        </p:spPr>
        <p:txBody>
          <a:bodyPr/>
          <a:lstStyle/>
          <a:p>
            <a:endParaRPr lang="en-US"/>
          </a:p>
        </p:txBody>
      </p:sp>
      <p:sp>
        <p:nvSpPr>
          <p:cNvPr id="14" name="Text 12">
            <a:extLst>
              <a:ext uri="{FF2B5EF4-FFF2-40B4-BE49-F238E27FC236}">
                <a16:creationId xmlns:a16="http://schemas.microsoft.com/office/drawing/2014/main" id="{0EB08AA1-1E82-5E95-D6CA-B03761CE7DE8}"/>
              </a:ext>
            </a:extLst>
          </p:cNvPr>
          <p:cNvSpPr/>
          <p:nvPr/>
        </p:nvSpPr>
        <p:spPr>
          <a:xfrm>
            <a:off x="850392" y="3607709"/>
            <a:ext cx="4864608" cy="424795"/>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See priority and overdue state, and complete a task in one click</a:t>
            </a:r>
            <a:endParaRPr lang="en-US" sz="1400" i="1" dirty="0"/>
          </a:p>
        </p:txBody>
      </p:sp>
      <p:sp>
        <p:nvSpPr>
          <p:cNvPr id="15" name="Text 13">
            <a:extLst>
              <a:ext uri="{FF2B5EF4-FFF2-40B4-BE49-F238E27FC236}">
                <a16:creationId xmlns:a16="http://schemas.microsoft.com/office/drawing/2014/main" id="{0A9C0F3F-51E9-29AD-CE4A-32332EE77C2A}"/>
              </a:ext>
            </a:extLst>
          </p:cNvPr>
          <p:cNvSpPr/>
          <p:nvPr/>
        </p:nvSpPr>
        <p:spPr>
          <a:xfrm>
            <a:off x="548640" y="4297680"/>
            <a:ext cx="5212080" cy="320040"/>
          </a:xfrm>
          <a:prstGeom prst="rect">
            <a:avLst/>
          </a:prstGeom>
          <a:noFill/>
        </p:spPr>
        <p:txBody>
          <a:bodyPr wrap="square" lIns="0" tIns="0" rIns="0" bIns="0" rtlCol="0" anchor="ctr"/>
          <a:lstStyle/>
          <a:p>
            <a:pPr marL="0" indent="0">
              <a:buNone/>
            </a:pPr>
            <a:r>
              <a:rPr lang="en-US" sz="1400" b="1" dirty="0">
                <a:solidFill>
                  <a:srgbClr val="1E2761"/>
                </a:solidFill>
                <a:latin typeface="Calibri" panose="020F0502020204030204" pitchFamily="34" charset="0"/>
                <a:ea typeface="Calibri" panose="020F0502020204030204" pitchFamily="34" charset="-122"/>
                <a:cs typeface="Calibri" panose="020F0502020204030204" pitchFamily="34" charset="-120"/>
              </a:rPr>
              <a:t>How it works</a:t>
            </a:r>
            <a:endParaRPr lang="en-US" sz="1400" dirty="0"/>
          </a:p>
        </p:txBody>
      </p:sp>
      <p:sp>
        <p:nvSpPr>
          <p:cNvPr id="16" name="Text 14">
            <a:extLst>
              <a:ext uri="{FF2B5EF4-FFF2-40B4-BE49-F238E27FC236}">
                <a16:creationId xmlns:a16="http://schemas.microsoft.com/office/drawing/2014/main" id="{4672C77C-C709-3941-539F-0DB2B989C790}"/>
              </a:ext>
            </a:extLst>
          </p:cNvPr>
          <p:cNvSpPr/>
          <p:nvPr/>
        </p:nvSpPr>
        <p:spPr>
          <a:xfrm>
            <a:off x="533400" y="4734186"/>
            <a:ext cx="5212080" cy="1097280"/>
          </a:xfrm>
          <a:prstGeom prst="rect">
            <a:avLst/>
          </a:prstGeom>
          <a:noFill/>
        </p:spPr>
        <p:txBody>
          <a:bodyPr wrap="square" lIns="0" tIns="0" rIns="0" bIns="0" rtlCol="0" anchor="ctr"/>
          <a:lstStyle/>
          <a:p>
            <a:pPr>
              <a:lnSpc>
                <a:spcPct val="150000"/>
              </a:lnSpc>
            </a:pPr>
            <a:r>
              <a:rPr lang="en-US" sz="1400" i="1" dirty="0"/>
              <a:t>Plant details are linked to the selected </a:t>
            </a:r>
            <a:r>
              <a:rPr lang="en-US" sz="1400" b="1" i="1" dirty="0"/>
              <a:t>species</a:t>
            </a:r>
            <a:r>
              <a:rPr lang="en-US" sz="1400" i="1" dirty="0"/>
              <a:t>, and care tasks are created based on plant care requirements.</a:t>
            </a:r>
            <a:br>
              <a:rPr lang="en-US" sz="1400" i="1" dirty="0"/>
            </a:br>
            <a:r>
              <a:rPr lang="en-US" sz="1400" i="1" dirty="0"/>
              <a:t>Tasks are stored and tracked through the backend, allowing users to </a:t>
            </a:r>
            <a:r>
              <a:rPr lang="en-US" sz="1400" b="1" i="1" dirty="0"/>
              <a:t>view priority, overdue status, and completion</a:t>
            </a:r>
            <a:r>
              <a:rPr lang="en-US" sz="1400" i="1" dirty="0"/>
              <a:t>.</a:t>
            </a:r>
            <a:endParaRPr lang="en-US" sz="1250" i="1" dirty="0"/>
          </a:p>
        </p:txBody>
      </p:sp>
      <p:sp>
        <p:nvSpPr>
          <p:cNvPr id="19" name="Text 17">
            <a:extLst>
              <a:ext uri="{FF2B5EF4-FFF2-40B4-BE49-F238E27FC236}">
                <a16:creationId xmlns:a16="http://schemas.microsoft.com/office/drawing/2014/main" id="{23F4E1B4-14E8-13C0-3FDB-2D093185D5DB}"/>
              </a:ext>
            </a:extLst>
          </p:cNvPr>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pic>
        <p:nvPicPr>
          <p:cNvPr id="21" name="Picture 20">
            <a:extLst>
              <a:ext uri="{FF2B5EF4-FFF2-40B4-BE49-F238E27FC236}">
                <a16:creationId xmlns:a16="http://schemas.microsoft.com/office/drawing/2014/main" id="{9BB09AC6-60C2-653B-F0F2-3374283E8090}"/>
              </a:ext>
            </a:extLst>
          </p:cNvPr>
          <p:cNvPicPr>
            <a:picLocks noChangeAspect="1"/>
          </p:cNvPicPr>
          <p:nvPr/>
        </p:nvPicPr>
        <p:blipFill>
          <a:blip r:embed="rId3"/>
          <a:stretch>
            <a:fillRect/>
          </a:stretch>
        </p:blipFill>
        <p:spPr>
          <a:xfrm>
            <a:off x="5869257" y="1410682"/>
            <a:ext cx="6104207" cy="4190073"/>
          </a:xfrm>
          <a:prstGeom prst="rect">
            <a:avLst/>
          </a:prstGeom>
        </p:spPr>
      </p:pic>
    </p:spTree>
    <p:extLst>
      <p:ext uri="{BB962C8B-B14F-4D97-AF65-F5344CB8AC3E}">
        <p14:creationId xmlns:p14="http://schemas.microsoft.com/office/powerpoint/2010/main" val="121698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2BF738F-6BC0-93FB-1C49-A04442AC9BF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1302E2D-F955-CC7B-21FC-5D7BB8C9DA24}"/>
              </a:ext>
            </a:extLst>
          </p:cNvPr>
          <p:cNvSpPr/>
          <p:nvPr/>
        </p:nvSpPr>
        <p:spPr>
          <a:xfrm>
            <a:off x="548640" y="502920"/>
            <a:ext cx="457200" cy="457200"/>
          </a:xfrm>
          <a:prstGeom prst="ellipse">
            <a:avLst/>
          </a:prstGeom>
          <a:solidFill>
            <a:srgbClr val="1E2761"/>
          </a:solidFill>
        </p:spPr>
        <p:txBody>
          <a:bodyPr/>
          <a:lstStyle/>
          <a:p>
            <a:endParaRPr lang="en-US"/>
          </a:p>
        </p:txBody>
      </p:sp>
      <p:sp>
        <p:nvSpPr>
          <p:cNvPr id="3" name="Text 1">
            <a:extLst>
              <a:ext uri="{FF2B5EF4-FFF2-40B4-BE49-F238E27FC236}">
                <a16:creationId xmlns:a16="http://schemas.microsoft.com/office/drawing/2014/main" id="{F313EBCD-C95E-43F1-DDC4-1F4E6C5402E8}"/>
              </a:ext>
            </a:extLst>
          </p:cNvPr>
          <p:cNvSpPr/>
          <p:nvPr/>
        </p:nvSpPr>
        <p:spPr>
          <a:xfrm>
            <a:off x="548640" y="502920"/>
            <a:ext cx="457200" cy="457200"/>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122"/>
                <a:cs typeface="Calibri" panose="020F0502020204030204" pitchFamily="34" charset="-120"/>
              </a:rPr>
              <a:t>10</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 2">
            <a:extLst>
              <a:ext uri="{FF2B5EF4-FFF2-40B4-BE49-F238E27FC236}">
                <a16:creationId xmlns:a16="http://schemas.microsoft.com/office/drawing/2014/main" id="{1145F867-9739-0482-97DD-CC8C1028F5B1}"/>
              </a:ext>
            </a:extLst>
          </p:cNvPr>
          <p:cNvSpPr/>
          <p:nvPr/>
        </p:nvSpPr>
        <p:spPr>
          <a:xfrm>
            <a:off x="1143000" y="502920"/>
            <a:ext cx="8229600" cy="45720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100" normalizeH="0" baseline="0" noProof="0" dirty="0">
                <a:ln>
                  <a:noFill/>
                </a:ln>
                <a:solidFill>
                  <a:srgbClr val="5B5F7A"/>
                </a:solidFill>
                <a:effectLst/>
                <a:uLnTx/>
                <a:uFillTx/>
                <a:latin typeface="Calibri" panose="020F0502020204030204" pitchFamily="34" charset="0"/>
                <a:ea typeface="Calibri" panose="020F0502020204030204" pitchFamily="34" charset="-122"/>
                <a:cs typeface="Calibri" panose="020F0502020204030204" pitchFamily="34" charset="-120"/>
              </a:rPr>
              <a:t>KEY FUNCTIONALITY</a:t>
            </a:r>
            <a:endParaRPr kumimoji="0" lang="en-US"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Text 5">
            <a:extLst>
              <a:ext uri="{FF2B5EF4-FFF2-40B4-BE49-F238E27FC236}">
                <a16:creationId xmlns:a16="http://schemas.microsoft.com/office/drawing/2014/main" id="{44B24CA1-E89A-CF56-4E93-5FC2AE6D1C12}"/>
              </a:ext>
            </a:extLst>
          </p:cNvPr>
          <p:cNvSpPr/>
          <p:nvPr/>
        </p:nvSpPr>
        <p:spPr>
          <a:xfrm>
            <a:off x="533400" y="1327402"/>
            <a:ext cx="4756605" cy="457200"/>
          </a:xfrm>
          <a:prstGeom prst="rect">
            <a:avLst/>
          </a:prstGeom>
          <a:noFill/>
        </p:spPr>
        <p:txBody>
          <a:bodyPr wrap="square" lIns="0" tIns="0" rIns="0" bIns="0" rtlCol="0" anchor="ctr"/>
          <a:lstStyle/>
          <a:p>
            <a:r>
              <a:rPr lang="en-US" sz="2000" b="1" dirty="0">
                <a:solidFill>
                  <a:srgbClr val="22306B"/>
                </a:solidFill>
                <a:latin typeface="Georgia" pitchFamily="34" charset="0"/>
                <a:ea typeface="Georgia" pitchFamily="34" charset="-122"/>
                <a:cs typeface="Georgia" pitchFamily="34" charset="-120"/>
              </a:rPr>
              <a:t>Health Records, Environment &amp; Consultations</a:t>
            </a:r>
            <a:endParaRPr lang="en-US" sz="2000" dirty="0"/>
          </a:p>
        </p:txBody>
      </p:sp>
      <p:sp>
        <p:nvSpPr>
          <p:cNvPr id="8" name="Text 6">
            <a:extLst>
              <a:ext uri="{FF2B5EF4-FFF2-40B4-BE49-F238E27FC236}">
                <a16:creationId xmlns:a16="http://schemas.microsoft.com/office/drawing/2014/main" id="{CE22EECE-6D30-2A14-CAB4-54F76A34C9F1}"/>
              </a:ext>
            </a:extLst>
          </p:cNvPr>
          <p:cNvSpPr/>
          <p:nvPr/>
        </p:nvSpPr>
        <p:spPr>
          <a:xfrm>
            <a:off x="548640" y="2057400"/>
            <a:ext cx="5212080" cy="32004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Calibri" panose="020F0502020204030204" pitchFamily="34" charset="0"/>
                <a:ea typeface="Calibri" panose="020F0502020204030204" pitchFamily="34" charset="-122"/>
                <a:cs typeface="Calibri" panose="020F0502020204030204" pitchFamily="34" charset="-120"/>
              </a:rPr>
              <a:t>What the user can do</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Shape 7">
            <a:extLst>
              <a:ext uri="{FF2B5EF4-FFF2-40B4-BE49-F238E27FC236}">
                <a16:creationId xmlns:a16="http://schemas.microsoft.com/office/drawing/2014/main" id="{248B2C78-0343-CB32-8308-BEF4A3AF5C74}"/>
              </a:ext>
            </a:extLst>
          </p:cNvPr>
          <p:cNvSpPr/>
          <p:nvPr/>
        </p:nvSpPr>
        <p:spPr>
          <a:xfrm>
            <a:off x="594360" y="2542032"/>
            <a:ext cx="100584" cy="100584"/>
          </a:xfrm>
          <a:prstGeom prst="ellipse">
            <a:avLst/>
          </a:prstGeom>
          <a:solidFill>
            <a:srgbClr val="E8A33D"/>
          </a:solidFill>
        </p:spPr>
        <p:txBody>
          <a:bodyPr/>
          <a:lstStyle/>
          <a:p>
            <a:endParaRPr lang="en-US"/>
          </a:p>
        </p:txBody>
      </p:sp>
      <p:sp>
        <p:nvSpPr>
          <p:cNvPr id="10" name="Text 8">
            <a:extLst>
              <a:ext uri="{FF2B5EF4-FFF2-40B4-BE49-F238E27FC236}">
                <a16:creationId xmlns:a16="http://schemas.microsoft.com/office/drawing/2014/main" id="{28447EBB-7B24-4D64-B294-04D227F1061D}"/>
              </a:ext>
            </a:extLst>
          </p:cNvPr>
          <p:cNvSpPr/>
          <p:nvPr/>
        </p:nvSpPr>
        <p:spPr>
          <a:xfrm>
            <a:off x="850392" y="2466474"/>
            <a:ext cx="4864608" cy="347472"/>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Log health assessments with symptoms, diagnosis and treatments applied</a:t>
            </a:r>
            <a:endParaRPr lang="en-US" sz="1400" i="1" dirty="0"/>
          </a:p>
        </p:txBody>
      </p:sp>
      <p:sp>
        <p:nvSpPr>
          <p:cNvPr id="11" name="Shape 9">
            <a:extLst>
              <a:ext uri="{FF2B5EF4-FFF2-40B4-BE49-F238E27FC236}">
                <a16:creationId xmlns:a16="http://schemas.microsoft.com/office/drawing/2014/main" id="{F0724C31-6BE6-D81C-BAD2-EE7A228558DC}"/>
              </a:ext>
            </a:extLst>
          </p:cNvPr>
          <p:cNvSpPr/>
          <p:nvPr/>
        </p:nvSpPr>
        <p:spPr>
          <a:xfrm>
            <a:off x="594360" y="3090672"/>
            <a:ext cx="100584" cy="100584"/>
          </a:xfrm>
          <a:prstGeom prst="ellipse">
            <a:avLst/>
          </a:prstGeom>
          <a:solidFill>
            <a:srgbClr val="E8A33D"/>
          </a:solidFill>
        </p:spPr>
        <p:txBody>
          <a:bodyPr/>
          <a:lstStyle/>
          <a:p>
            <a:endParaRPr lang="en-US"/>
          </a:p>
        </p:txBody>
      </p:sp>
      <p:sp>
        <p:nvSpPr>
          <p:cNvPr id="12" name="Text 10">
            <a:extLst>
              <a:ext uri="{FF2B5EF4-FFF2-40B4-BE49-F238E27FC236}">
                <a16:creationId xmlns:a16="http://schemas.microsoft.com/office/drawing/2014/main" id="{DD2E330D-040D-E021-65F4-373A7BDE13BE}"/>
              </a:ext>
            </a:extLst>
          </p:cNvPr>
          <p:cNvSpPr/>
          <p:nvPr/>
        </p:nvSpPr>
        <p:spPr>
          <a:xfrm>
            <a:off x="859536" y="3044952"/>
            <a:ext cx="4864608" cy="347472"/>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Track recovery status and follow-up dates per plant</a:t>
            </a:r>
            <a:endParaRPr lang="en-US" sz="1400" i="1" dirty="0"/>
          </a:p>
        </p:txBody>
      </p:sp>
      <p:sp>
        <p:nvSpPr>
          <p:cNvPr id="13" name="Shape 11">
            <a:extLst>
              <a:ext uri="{FF2B5EF4-FFF2-40B4-BE49-F238E27FC236}">
                <a16:creationId xmlns:a16="http://schemas.microsoft.com/office/drawing/2014/main" id="{BB6CCB39-38F4-408D-2278-1CD15231A42D}"/>
              </a:ext>
            </a:extLst>
          </p:cNvPr>
          <p:cNvSpPr/>
          <p:nvPr/>
        </p:nvSpPr>
        <p:spPr>
          <a:xfrm>
            <a:off x="594360" y="3639312"/>
            <a:ext cx="100584" cy="100584"/>
          </a:xfrm>
          <a:prstGeom prst="ellipse">
            <a:avLst/>
          </a:prstGeom>
          <a:solidFill>
            <a:srgbClr val="E8A33D"/>
          </a:solidFill>
        </p:spPr>
        <p:txBody>
          <a:bodyPr/>
          <a:lstStyle/>
          <a:p>
            <a:endParaRPr lang="en-US"/>
          </a:p>
        </p:txBody>
      </p:sp>
      <p:sp>
        <p:nvSpPr>
          <p:cNvPr id="14" name="Text 12">
            <a:extLst>
              <a:ext uri="{FF2B5EF4-FFF2-40B4-BE49-F238E27FC236}">
                <a16:creationId xmlns:a16="http://schemas.microsoft.com/office/drawing/2014/main" id="{95B96A79-4CF2-451F-0AA4-048690ADDD49}"/>
              </a:ext>
            </a:extLst>
          </p:cNvPr>
          <p:cNvSpPr/>
          <p:nvPr/>
        </p:nvSpPr>
        <p:spPr>
          <a:xfrm>
            <a:off x="850392" y="3607709"/>
            <a:ext cx="4864608" cy="424795"/>
          </a:xfrm>
          <a:prstGeom prst="rect">
            <a:avLst/>
          </a:prstGeom>
          <a:noFill/>
        </p:spPr>
        <p:txBody>
          <a:bodyPr wrap="square" lIns="0" tIns="0" rIns="0" bIns="0" rtlCol="0" anchor="t"/>
          <a:lstStyle/>
          <a:p>
            <a:pPr>
              <a:lnSpc>
                <a:spcPct val="110000"/>
              </a:lnSpc>
              <a:spcAft>
                <a:spcPts val="900"/>
              </a:spcAft>
              <a:buSzPct val="100000"/>
            </a:pPr>
            <a:r>
              <a:rPr lang="en-US" sz="1400" i="1" dirty="0">
                <a:solidFill>
                  <a:srgbClr val="1F2937"/>
                </a:solidFill>
                <a:latin typeface="Calibri" pitchFamily="34" charset="0"/>
                <a:ea typeface="Calibri" pitchFamily="34" charset="-122"/>
                <a:cs typeface="Calibri" pitchFamily="34" charset="-120"/>
              </a:rPr>
              <a:t>Request a specialist consultation and track it to completion</a:t>
            </a:r>
            <a:endParaRPr lang="en-US" sz="1400" i="1" dirty="0"/>
          </a:p>
        </p:txBody>
      </p:sp>
      <p:sp>
        <p:nvSpPr>
          <p:cNvPr id="15" name="Text 13">
            <a:extLst>
              <a:ext uri="{FF2B5EF4-FFF2-40B4-BE49-F238E27FC236}">
                <a16:creationId xmlns:a16="http://schemas.microsoft.com/office/drawing/2014/main" id="{8B0ACA28-83B8-B7F2-EB83-54AA1E8DE6D1}"/>
              </a:ext>
            </a:extLst>
          </p:cNvPr>
          <p:cNvSpPr/>
          <p:nvPr/>
        </p:nvSpPr>
        <p:spPr>
          <a:xfrm>
            <a:off x="533400" y="4226934"/>
            <a:ext cx="5212080" cy="32004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E2761"/>
                </a:solidFill>
                <a:effectLst/>
                <a:uLnTx/>
                <a:uFillTx/>
                <a:latin typeface="Calibri" panose="020F0502020204030204" pitchFamily="34" charset="0"/>
                <a:ea typeface="Calibri" panose="020F0502020204030204" pitchFamily="34" charset="-122"/>
                <a:cs typeface="Calibri" panose="020F0502020204030204" pitchFamily="34" charset="-120"/>
              </a:rPr>
              <a:t>How it works</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Text 14">
            <a:extLst>
              <a:ext uri="{FF2B5EF4-FFF2-40B4-BE49-F238E27FC236}">
                <a16:creationId xmlns:a16="http://schemas.microsoft.com/office/drawing/2014/main" id="{106ECB90-8B01-5B52-4D27-4BA99F10ECE1}"/>
              </a:ext>
            </a:extLst>
          </p:cNvPr>
          <p:cNvSpPr/>
          <p:nvPr/>
        </p:nvSpPr>
        <p:spPr>
          <a:xfrm>
            <a:off x="548640" y="4663440"/>
            <a:ext cx="5212080" cy="1097280"/>
          </a:xfrm>
          <a:prstGeom prst="rect">
            <a:avLst/>
          </a:prstGeom>
          <a:noFill/>
        </p:spPr>
        <p:txBody>
          <a:bodyPr wrap="square" lIns="0" tIns="0" rIns="0" bIns="0" rtlCol="0" anchor="ctr"/>
          <a:lstStyle/>
          <a:p>
            <a:pPr lvl="0">
              <a:lnSpc>
                <a:spcPct val="150000"/>
              </a:lnSpc>
            </a:pPr>
            <a:r>
              <a:rPr lang="en-US" sz="1400" i="1" dirty="0"/>
              <a:t>Users record </a:t>
            </a:r>
            <a:r>
              <a:rPr lang="en-US" sz="1400" b="1" i="1" dirty="0"/>
              <a:t>plant health and environmental data</a:t>
            </a:r>
            <a:r>
              <a:rPr lang="en-US" sz="1400" i="1" dirty="0"/>
              <a:t>, which is stored against the respective plant for tracking.</a:t>
            </a:r>
            <a:br>
              <a:rPr lang="en-US" sz="1400" i="1" dirty="0"/>
            </a:br>
            <a:r>
              <a:rPr lang="en-US" sz="1400" i="1" dirty="0"/>
              <a:t>For unresolved issues, users can </a:t>
            </a:r>
            <a:r>
              <a:rPr lang="en-US" sz="1400" b="1" i="1" dirty="0"/>
              <a:t>request a specialist consultation and track its status</a:t>
            </a:r>
            <a:r>
              <a:rPr lang="en-US" sz="1400" i="1" dirty="0"/>
              <a:t>.</a:t>
            </a:r>
            <a:endParaRPr kumimoji="0" lang="en-US" sz="1250" b="0" i="1" u="none" strike="noStrike" kern="1200" cap="none" spc="0" normalizeH="0" baseline="0" noProof="0" dirty="0">
              <a:ln>
                <a:noFill/>
              </a:ln>
              <a:solidFill>
                <a:prstClr val="black"/>
              </a:solidFill>
              <a:effectLst/>
              <a:uLnTx/>
              <a:uFillTx/>
              <a:latin typeface="Calibri"/>
              <a:ea typeface="+mn-ea"/>
              <a:cs typeface="+mn-cs"/>
            </a:endParaRPr>
          </a:p>
        </p:txBody>
      </p:sp>
      <p:sp>
        <p:nvSpPr>
          <p:cNvPr id="19" name="Text 17">
            <a:extLst>
              <a:ext uri="{FF2B5EF4-FFF2-40B4-BE49-F238E27FC236}">
                <a16:creationId xmlns:a16="http://schemas.microsoft.com/office/drawing/2014/main" id="{FF41AB1E-FE83-3435-6EA1-5CB70F312CFF}"/>
              </a:ext>
            </a:extLst>
          </p:cNvPr>
          <p:cNvSpPr/>
          <p:nvPr/>
        </p:nvSpPr>
        <p:spPr>
          <a:xfrm>
            <a:off x="548640" y="6510528"/>
            <a:ext cx="5486400" cy="274320"/>
          </a:xfrm>
          <a:prstGeom prst="rect">
            <a:avLst/>
          </a:prstGeom>
          <a:noFill/>
        </p:spPr>
        <p:txBody>
          <a:bodyPr wrap="square" lIns="0" tIns="0" rIns="0" bIns="0" rtlCol="0" anchor="ctr"/>
          <a:lstStyle/>
          <a:p>
            <a:pPr lvl="0"/>
            <a:r>
              <a:rPr kumimoji="0" lang="en-US" sz="900" b="0" i="0" u="none" strike="noStrike" kern="1200" cap="none" spc="0" normalizeH="0" baseline="0" noProof="0" dirty="0">
                <a:ln>
                  <a:noFill/>
                </a:ln>
                <a:solidFill>
                  <a:srgbClr val="5B5F7A"/>
                </a:solidFill>
                <a:effectLst/>
                <a:uLnTx/>
                <a:uFillTx/>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kumimoji="0" lang="en-US" sz="9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21" name="Picture 20">
            <a:extLst>
              <a:ext uri="{FF2B5EF4-FFF2-40B4-BE49-F238E27FC236}">
                <a16:creationId xmlns:a16="http://schemas.microsoft.com/office/drawing/2014/main" id="{F18527F2-40A5-0075-4AB6-E1615DB7EEE7}"/>
              </a:ext>
            </a:extLst>
          </p:cNvPr>
          <p:cNvPicPr>
            <a:picLocks noChangeAspect="1"/>
          </p:cNvPicPr>
          <p:nvPr/>
        </p:nvPicPr>
        <p:blipFill>
          <a:blip r:embed="rId3"/>
          <a:stretch>
            <a:fillRect/>
          </a:stretch>
        </p:blipFill>
        <p:spPr>
          <a:xfrm>
            <a:off x="5799177" y="1518249"/>
            <a:ext cx="6145025" cy="3761117"/>
          </a:xfrm>
          <a:prstGeom prst="rect">
            <a:avLst/>
          </a:prstGeom>
        </p:spPr>
      </p:pic>
    </p:spTree>
    <p:extLst>
      <p:ext uri="{BB962C8B-B14F-4D97-AF65-F5344CB8AC3E}">
        <p14:creationId xmlns:p14="http://schemas.microsoft.com/office/powerpoint/2010/main" val="1421620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CHALLENGES &amp; SOLUTIONS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99799130"/>
              </p:ext>
            </p:extLst>
          </p:nvPr>
        </p:nvGraphicFramePr>
        <p:xfrm>
          <a:off x="548640" y="1463040"/>
          <a:ext cx="11091672" cy="3840480"/>
        </p:xfrm>
        <a:graphic>
          <a:graphicData uri="http://schemas.openxmlformats.org/drawingml/2006/table">
            <a:tbl>
              <a:tblPr/>
              <a:tblGrid>
                <a:gridCol w="5541264">
                  <a:extLst>
                    <a:ext uri="{9D8B030D-6E8A-4147-A177-3AD203B41FA5}">
                      <a16:colId xmlns:a16="http://schemas.microsoft.com/office/drawing/2014/main" val="20000"/>
                    </a:ext>
                  </a:extLst>
                </a:gridCol>
                <a:gridCol w="5550408">
                  <a:extLst>
                    <a:ext uri="{9D8B030D-6E8A-4147-A177-3AD203B41FA5}">
                      <a16:colId xmlns:a16="http://schemas.microsoft.com/office/drawing/2014/main" val="20001"/>
                    </a:ext>
                  </a:extLst>
                </a:gridCol>
              </a:tblGrid>
              <a:tr h="96012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Challenge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Solution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960120">
                <a:tc>
                  <a:txBody>
                    <a:bodyPr/>
                    <a:lstStyle/>
                    <a:p>
                      <a:pPr marL="0" indent="0">
                        <a:lnSpc>
                          <a:spcPct val="105000"/>
                        </a:lnSpc>
                        <a:buNone/>
                      </a:pPr>
                      <a:r>
                        <a:rPr lang="en-US" sz="1400" b="1" dirty="0">
                          <a:solidFill>
                            <a:srgbClr val="22306B"/>
                          </a:solidFill>
                          <a:latin typeface="Calibri" pitchFamily="34" charset="0"/>
                          <a:ea typeface="Calibri" pitchFamily="34" charset="-122"/>
                          <a:cs typeface="Calibri" pitchFamily="34" charset="-120"/>
                        </a:rPr>
                        <a:t>Infinite JSON recursion from bidirectional entity relationships</a:t>
                      </a:r>
                      <a:endParaRPr lang="en-US" sz="1400"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400" i="1" dirty="0"/>
                        <a:t>Used DTOs, mappers and </a:t>
                      </a:r>
                      <a:r>
                        <a:rPr lang="en-US" sz="1400" i="1" kern="1200" dirty="0">
                          <a:solidFill>
                            <a:schemeClr val="tx1"/>
                          </a:solidFill>
                          <a:latin typeface="+mn-lt"/>
                          <a:ea typeface="+mn-ea"/>
                          <a:cs typeface="+mn-cs"/>
                        </a:rPr>
                        <a:t>@JsonIgnoreProperties</a:t>
                      </a:r>
                      <a:r>
                        <a:rPr lang="en-US" sz="1400" i="1" dirty="0"/>
                        <a:t> to prevent recursion.</a:t>
                      </a:r>
                      <a:endParaRPr lang="en-US" sz="135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960120">
                <a:tc>
                  <a:txBody>
                    <a:bodyPr/>
                    <a:lstStyle/>
                    <a:p>
                      <a:pPr marL="0" indent="0">
                        <a:lnSpc>
                          <a:spcPct val="105000"/>
                        </a:lnSpc>
                        <a:buNone/>
                      </a:pPr>
                      <a:r>
                        <a:rPr lang="en-US" sz="1400" b="1" dirty="0">
                          <a:solidFill>
                            <a:srgbClr val="22306B"/>
                          </a:solidFill>
                          <a:latin typeface="Calibri" pitchFamily="34" charset="0"/>
                          <a:ea typeface="Calibri" pitchFamily="34" charset="-122"/>
                          <a:cs typeface="Calibri" pitchFamily="34" charset="-120"/>
                        </a:rPr>
                        <a:t>Inconsistent error responses across 11 controllers</a:t>
                      </a:r>
                      <a:endParaRPr lang="en-US" sz="1400"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400" i="1" dirty="0"/>
                        <a:t>Implemented a global exception handler with standardized error responses.</a:t>
                      </a:r>
                      <a:endParaRPr lang="en-US" sz="135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960120">
                <a:tc>
                  <a:txBody>
                    <a:bodyPr/>
                    <a:lstStyle/>
                    <a:p>
                      <a:pPr marL="0" indent="0">
                        <a:lnSpc>
                          <a:spcPct val="105000"/>
                        </a:lnSpc>
                        <a:buNone/>
                      </a:pPr>
                      <a:r>
                        <a:rPr lang="en-US" sz="1400" b="1" dirty="0">
                          <a:solidFill>
                            <a:srgbClr val="22306B"/>
                          </a:solidFill>
                          <a:latin typeface="Calibri" pitchFamily="34" charset="0"/>
                          <a:ea typeface="Calibri" pitchFamily="34" charset="-122"/>
                          <a:cs typeface="Calibri" pitchFamily="34" charset="-120"/>
                        </a:rPr>
                        <a:t>Keeping database and JWT secrets out of the repository</a:t>
                      </a:r>
                      <a:endParaRPr lang="en-US" sz="1400"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400" i="1" dirty="0"/>
                        <a:t>Moved credentials and JWT keys to </a:t>
                      </a:r>
                      <a:r>
                        <a:rPr lang="en-US" sz="1400" i="1" kern="1200" dirty="0">
                          <a:solidFill>
                            <a:schemeClr val="tx1"/>
                          </a:solidFill>
                          <a:latin typeface="+mn-lt"/>
                          <a:ea typeface="+mn-ea"/>
                          <a:cs typeface="+mn-cs"/>
                        </a:rPr>
                        <a:t>.env </a:t>
                      </a:r>
                      <a:r>
                        <a:rPr lang="en-US" sz="1400" i="1" dirty="0"/>
                        <a:t>configuration</a:t>
                      </a: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TESTING</a:t>
            </a:r>
            <a:endParaRPr lang="en-US" sz="1300" dirty="0"/>
          </a:p>
        </p:txBody>
      </p:sp>
      <p:sp>
        <p:nvSpPr>
          <p:cNvPr id="5" name="Text 3"/>
          <p:cNvSpPr/>
          <p:nvPr/>
        </p:nvSpPr>
        <p:spPr>
          <a:xfrm>
            <a:off x="548640" y="1161288"/>
            <a:ext cx="10515600" cy="320040"/>
          </a:xfrm>
          <a:prstGeom prst="rect">
            <a:avLst/>
          </a:prstGeom>
          <a:noFill/>
        </p:spPr>
        <p:txBody>
          <a:bodyPr wrap="square" lIns="0" tIns="0" rIns="0" bIns="0" rtlCol="0" anchor="ctr"/>
          <a:lstStyle/>
          <a:p>
            <a:pPr marL="0" indent="0">
              <a:buNone/>
            </a:pPr>
            <a:r>
              <a:rPr lang="en-US" sz="1300" b="1" dirty="0">
                <a:solidFill>
                  <a:srgbClr val="1E2761"/>
                </a:solidFill>
                <a:latin typeface="Calibri" panose="020F0502020204030204" pitchFamily="34" charset="0"/>
                <a:ea typeface="Calibri" panose="020F0502020204030204" pitchFamily="34" charset="-122"/>
                <a:cs typeface="Calibri" panose="020F0502020204030204" pitchFamily="34" charset="-120"/>
              </a:rPr>
              <a:t>Testing approach</a:t>
            </a:r>
            <a:endParaRPr lang="en-US" sz="1300" dirty="0"/>
          </a:p>
        </p:txBody>
      </p:sp>
      <p:sp>
        <p:nvSpPr>
          <p:cNvPr id="6" name="Text 4"/>
          <p:cNvSpPr/>
          <p:nvPr/>
        </p:nvSpPr>
        <p:spPr>
          <a:xfrm>
            <a:off x="548640" y="1516091"/>
            <a:ext cx="11091672" cy="1026285"/>
          </a:xfrm>
          <a:prstGeom prst="rect">
            <a:avLst/>
          </a:prstGeom>
          <a:noFill/>
        </p:spPr>
        <p:txBody>
          <a:bodyPr wrap="square" lIns="0" tIns="0" rIns="0" bIns="0" rtlCol="0" anchor="ctr"/>
          <a:lstStyle/>
          <a:p>
            <a:pPr>
              <a:lnSpc>
                <a:spcPct val="115000"/>
              </a:lnSpc>
            </a:pPr>
            <a:r>
              <a:rPr lang="en-US" sz="1350" dirty="0">
                <a:latin typeface="Calibri" pitchFamily="34" charset="0"/>
                <a:ea typeface="Calibri" pitchFamily="34" charset="-122"/>
                <a:cs typeface="Calibri" pitchFamily="34" charset="-120"/>
              </a:rPr>
              <a:t>Testing combined a Spring Boot context-load test with manual API testing through </a:t>
            </a:r>
            <a:r>
              <a:rPr lang="en-US" sz="1350" dirty="0">
                <a:solidFill>
                  <a:schemeClr val="accent1">
                    <a:lumMod val="75000"/>
                  </a:schemeClr>
                </a:solidFill>
                <a:latin typeface="Calibri" pitchFamily="34" charset="0"/>
                <a:ea typeface="Calibri" pitchFamily="34" charset="-122"/>
                <a:cs typeface="Calibri" pitchFamily="34" charset="-120"/>
              </a:rPr>
              <a:t>Swagger</a:t>
            </a:r>
            <a:r>
              <a:rPr lang="en-US" sz="1350" dirty="0">
                <a:latin typeface="Calibri" pitchFamily="34" charset="0"/>
                <a:ea typeface="Calibri" pitchFamily="34" charset="-122"/>
                <a:cs typeface="Calibri" pitchFamily="34" charset="-120"/>
              </a:rPr>
              <a:t> </a:t>
            </a:r>
            <a:r>
              <a:rPr lang="en-US" sz="1350" dirty="0">
                <a:solidFill>
                  <a:schemeClr val="accent1">
                    <a:lumMod val="75000"/>
                  </a:schemeClr>
                </a:solidFill>
                <a:latin typeface="Calibri" pitchFamily="34" charset="0"/>
                <a:ea typeface="Calibri" pitchFamily="34" charset="-122"/>
                <a:cs typeface="Calibri" pitchFamily="34" charset="-120"/>
              </a:rPr>
              <a:t>UI</a:t>
            </a:r>
            <a:r>
              <a:rPr lang="en-US" sz="1350" dirty="0">
                <a:latin typeface="Calibri" pitchFamily="34" charset="0"/>
                <a:ea typeface="Calibri" pitchFamily="34" charset="-122"/>
                <a:cs typeface="Calibri" pitchFamily="34" charset="-120"/>
              </a:rPr>
              <a:t> and end-to-end verification in the React client. Every endpoint was exercised for the success path, the unauthorised path (missing or wrong-role JWT) and the invalid-input path. Request DTOs are annotated with </a:t>
            </a:r>
            <a:r>
              <a:rPr lang="en-US" sz="1350" dirty="0">
                <a:solidFill>
                  <a:schemeClr val="accent1">
                    <a:lumMod val="75000"/>
                  </a:schemeClr>
                </a:solidFill>
                <a:latin typeface="Calibri" pitchFamily="34" charset="0"/>
                <a:ea typeface="Calibri" pitchFamily="34" charset="-122"/>
                <a:cs typeface="Calibri" pitchFamily="34" charset="-120"/>
              </a:rPr>
              <a:t>Hibernate</a:t>
            </a:r>
            <a:r>
              <a:rPr lang="en-US" sz="1350" dirty="0">
                <a:latin typeface="Calibri" pitchFamily="34" charset="0"/>
                <a:ea typeface="Calibri" pitchFamily="34" charset="-122"/>
                <a:cs typeface="Calibri" pitchFamily="34" charset="-120"/>
              </a:rPr>
              <a:t> </a:t>
            </a:r>
            <a:r>
              <a:rPr lang="en-US" sz="1350" dirty="0">
                <a:solidFill>
                  <a:schemeClr val="accent1">
                    <a:lumMod val="75000"/>
                  </a:schemeClr>
                </a:solidFill>
                <a:latin typeface="Calibri" pitchFamily="34" charset="0"/>
                <a:ea typeface="Calibri" pitchFamily="34" charset="-122"/>
                <a:cs typeface="Calibri" pitchFamily="34" charset="-120"/>
              </a:rPr>
              <a:t>Validator</a:t>
            </a:r>
            <a:r>
              <a:rPr lang="en-US" sz="1350" dirty="0">
                <a:latin typeface="Calibri" pitchFamily="34" charset="0"/>
                <a:ea typeface="Calibri" pitchFamily="34" charset="-122"/>
                <a:cs typeface="Calibri" pitchFamily="34" charset="-120"/>
              </a:rPr>
              <a:t> constraints, and </a:t>
            </a:r>
            <a:r>
              <a:rPr lang="en-US" sz="1350" dirty="0">
                <a:solidFill>
                  <a:schemeClr val="accent1">
                    <a:lumMod val="75000"/>
                  </a:schemeClr>
                </a:solidFill>
                <a:latin typeface="Calibri" pitchFamily="34" charset="0"/>
                <a:ea typeface="Calibri" pitchFamily="34" charset="-122"/>
                <a:cs typeface="Calibri" pitchFamily="34" charset="-120"/>
              </a:rPr>
              <a:t>MethodArgumentNotValidException</a:t>
            </a:r>
            <a:r>
              <a:rPr lang="en-US" sz="1350" dirty="0">
                <a:latin typeface="Calibri" pitchFamily="34" charset="0"/>
                <a:ea typeface="Calibri" pitchFamily="34" charset="-122"/>
                <a:cs typeface="Calibri" pitchFamily="34" charset="-120"/>
              </a:rPr>
              <a:t> is caught by </a:t>
            </a:r>
            <a:r>
              <a:rPr lang="en-US" sz="1350" dirty="0">
                <a:solidFill>
                  <a:schemeClr val="accent1">
                    <a:lumMod val="75000"/>
                  </a:schemeClr>
                </a:solidFill>
                <a:latin typeface="Calibri" pitchFamily="34" charset="0"/>
                <a:ea typeface="Calibri" pitchFamily="34" charset="-122"/>
                <a:cs typeface="Calibri" pitchFamily="34" charset="-120"/>
              </a:rPr>
              <a:t>GlobalExceptionHandler</a:t>
            </a:r>
            <a:r>
              <a:rPr lang="en-US" sz="1350" dirty="0">
                <a:latin typeface="Calibri" pitchFamily="34" charset="0"/>
                <a:ea typeface="Calibri" pitchFamily="34" charset="-122"/>
                <a:cs typeface="Calibri" pitchFamily="34" charset="-120"/>
              </a:rPr>
              <a:t> so validation failures return field-level messages with HTTP 400 instead of a stack trace.</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579130952"/>
              </p:ext>
            </p:extLst>
          </p:nvPr>
        </p:nvGraphicFramePr>
        <p:xfrm>
          <a:off x="548640" y="2801644"/>
          <a:ext cx="11091672" cy="3108960"/>
        </p:xfrm>
        <a:graphic>
          <a:graphicData uri="http://schemas.openxmlformats.org/drawingml/2006/table">
            <a:tbl>
              <a:tblPr/>
              <a:tblGrid>
                <a:gridCol w="32918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tblGrid>
              <a:tr h="777240">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Test case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Expected result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Actual result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Status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lnSpc>
                          <a:spcPct val="100000"/>
                        </a:lnSpc>
                        <a:buNone/>
                      </a:pPr>
                      <a:r>
                        <a:rPr lang="en-US" sz="1350" i="1" dirty="0">
                          <a:solidFill>
                            <a:srgbClr val="1F2937"/>
                          </a:solidFill>
                          <a:latin typeface="Calibri" pitchFamily="34" charset="0"/>
                          <a:ea typeface="Calibri" pitchFamily="34" charset="-122"/>
                          <a:cs typeface="Calibri" pitchFamily="34" charset="-120"/>
                        </a:rPr>
                        <a:t>Register with an email that already exists</a:t>
                      </a:r>
                      <a:endParaRPr lang="en-US" sz="135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350" i="1" dirty="0">
                          <a:solidFill>
                            <a:srgbClr val="1F2937"/>
                          </a:solidFill>
                          <a:latin typeface="Calibri" pitchFamily="34" charset="0"/>
                          <a:ea typeface="Calibri" pitchFamily="34" charset="-122"/>
                          <a:cs typeface="Calibri" pitchFamily="34" charset="-120"/>
                        </a:rPr>
                        <a:t>Rejected with a clear conflict message</a:t>
                      </a:r>
                      <a:endParaRPr lang="en-US" sz="135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200" i="1" dirty="0">
                          <a:solidFill>
                            <a:srgbClr val="1F2937"/>
                          </a:solidFill>
                          <a:latin typeface="Calibri" pitchFamily="34" charset="0"/>
                          <a:ea typeface="Calibri" pitchFamily="34" charset="-122"/>
                          <a:cs typeface="Calibri" pitchFamily="34" charset="-120"/>
                        </a:rPr>
                        <a:t>HTTP 409 — EmailAlreadyExistsException handled</a:t>
                      </a:r>
                      <a:endParaRPr lang="en-US" sz="120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400" b="1" i="1" dirty="0">
                          <a:solidFill>
                            <a:srgbClr val="1E7A3C"/>
                          </a:solidFill>
                          <a:latin typeface="Calibri" pitchFamily="34" charset="0"/>
                          <a:ea typeface="Calibri" pitchFamily="34" charset="-122"/>
                          <a:cs typeface="Calibri" pitchFamily="34" charset="-120"/>
                        </a:rPr>
                        <a:t>Pass</a:t>
                      </a:r>
                      <a:endParaRPr lang="en-US" sz="1400" i="1"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lnSpc>
                          <a:spcPct val="100000"/>
                        </a:lnSpc>
                        <a:buNone/>
                      </a:pPr>
                      <a:r>
                        <a:rPr lang="en-US" sz="1350" i="1" dirty="0">
                          <a:solidFill>
                            <a:srgbClr val="1F2937"/>
                          </a:solidFill>
                          <a:latin typeface="Calibri" pitchFamily="34" charset="0"/>
                          <a:ea typeface="Calibri" pitchFamily="34" charset="-122"/>
                          <a:cs typeface="Calibri" pitchFamily="34" charset="-120"/>
                        </a:rPr>
                        <a:t>Login with an incorrect password</a:t>
                      </a:r>
                      <a:endParaRPr lang="en-US" sz="135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350" i="1" dirty="0">
                          <a:solidFill>
                            <a:srgbClr val="1F2937"/>
                          </a:solidFill>
                          <a:latin typeface="Calibri" pitchFamily="34" charset="0"/>
                          <a:ea typeface="Calibri" pitchFamily="34" charset="-122"/>
                          <a:cs typeface="Calibri" pitchFamily="34" charset="-120"/>
                        </a:rPr>
                        <a:t>Access denied, no token issued</a:t>
                      </a:r>
                      <a:endParaRPr lang="en-US" sz="135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200" i="1" dirty="0">
                          <a:solidFill>
                            <a:srgbClr val="1F2937"/>
                          </a:solidFill>
                          <a:latin typeface="Calibri" pitchFamily="34" charset="0"/>
                          <a:ea typeface="Calibri" pitchFamily="34" charset="-122"/>
                          <a:cs typeface="Calibri" pitchFamily="34" charset="-120"/>
                        </a:rPr>
                        <a:t>HTTP 401 — InvalidCredentialsException handled</a:t>
                      </a:r>
                      <a:endParaRPr lang="en-US" sz="120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400" b="1" i="1" dirty="0">
                          <a:solidFill>
                            <a:srgbClr val="1E7A3C"/>
                          </a:solidFill>
                          <a:latin typeface="Calibri" pitchFamily="34" charset="0"/>
                          <a:ea typeface="Calibri" pitchFamily="34" charset="-122"/>
                          <a:cs typeface="Calibri" pitchFamily="34" charset="-120"/>
                        </a:rPr>
                        <a:t>Pass</a:t>
                      </a:r>
                      <a:endParaRPr lang="en-US" sz="1400" i="1"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lnSpc>
                          <a:spcPct val="100000"/>
                        </a:lnSpc>
                        <a:buNone/>
                      </a:pPr>
                      <a:r>
                        <a:rPr lang="en-US" sz="1350" i="1" dirty="0">
                          <a:solidFill>
                            <a:srgbClr val="1F2937"/>
                          </a:solidFill>
                          <a:latin typeface="Calibri" pitchFamily="34" charset="0"/>
                          <a:ea typeface="Calibri" pitchFamily="34" charset="-122"/>
                          <a:cs typeface="Calibri" pitchFamily="34" charset="-120"/>
                        </a:rPr>
                        <a:t>Call /</a:t>
                      </a:r>
                      <a:r>
                        <a:rPr lang="en-US" sz="1350" i="1" dirty="0" err="1">
                          <a:solidFill>
                            <a:srgbClr val="1F2937"/>
                          </a:solidFill>
                          <a:latin typeface="Calibri" pitchFamily="34" charset="0"/>
                          <a:ea typeface="Calibri" pitchFamily="34" charset="-122"/>
                          <a:cs typeface="Calibri" pitchFamily="34" charset="-120"/>
                        </a:rPr>
                        <a:t>api</a:t>
                      </a:r>
                      <a:r>
                        <a:rPr lang="en-US" sz="1350" i="1" dirty="0">
                          <a:solidFill>
                            <a:srgbClr val="1F2937"/>
                          </a:solidFill>
                          <a:latin typeface="Calibri" pitchFamily="34" charset="0"/>
                          <a:ea typeface="Calibri" pitchFamily="34" charset="-122"/>
                          <a:cs typeface="Calibri" pitchFamily="34" charset="-120"/>
                        </a:rPr>
                        <a:t>/plants without a JWT</a:t>
                      </a:r>
                      <a:endParaRPr lang="en-US" sz="135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350" i="1" dirty="0">
                          <a:solidFill>
                            <a:srgbClr val="1F2937"/>
                          </a:solidFill>
                          <a:latin typeface="Calibri" pitchFamily="34" charset="0"/>
                          <a:ea typeface="Calibri" pitchFamily="34" charset="-122"/>
                          <a:cs typeface="Calibri" pitchFamily="34" charset="-120"/>
                        </a:rPr>
                        <a:t>Request blocked before reaching the controller</a:t>
                      </a:r>
                      <a:endParaRPr lang="en-US" sz="135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lnSpc>
                          <a:spcPct val="100000"/>
                        </a:lnSpc>
                        <a:buNone/>
                      </a:pPr>
                      <a:r>
                        <a:rPr lang="en-US" sz="1200" i="1" dirty="0">
                          <a:solidFill>
                            <a:srgbClr val="1F2937"/>
                          </a:solidFill>
                          <a:latin typeface="Calibri" pitchFamily="34" charset="0"/>
                          <a:ea typeface="Calibri" pitchFamily="34" charset="-122"/>
                          <a:cs typeface="Calibri" pitchFamily="34" charset="-120"/>
                        </a:rPr>
                        <a:t>HTTP 401 — rejected by JwtAuthenticationFilter</a:t>
                      </a:r>
                      <a:endParaRPr lang="en-US" sz="1200" i="1" dirty="0"/>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400" b="1" i="1" dirty="0">
                          <a:solidFill>
                            <a:srgbClr val="1E7A3C"/>
                          </a:solidFill>
                          <a:latin typeface="Calibri" pitchFamily="34" charset="0"/>
                          <a:ea typeface="Calibri" pitchFamily="34" charset="-122"/>
                          <a:cs typeface="Calibri" pitchFamily="34" charset="-120"/>
                        </a:rPr>
                        <a:t>Pass</a:t>
                      </a:r>
                      <a:endParaRPr lang="en-US" sz="1400" i="1"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5"/>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457200" cy="457200"/>
          </a:xfrm>
          <a:prstGeom prst="ellipse">
            <a:avLst/>
          </a:prstGeom>
          <a:solidFill>
            <a:srgbClr val="1E2761"/>
          </a:solidFill>
        </p:spPr>
        <p:txBody>
          <a:bodyPr/>
          <a:lstStyle/>
          <a:p>
            <a:endParaRPr lang="en-US"/>
          </a:p>
        </p:txBody>
      </p:sp>
      <p:sp>
        <p:nvSpPr>
          <p:cNvPr id="3" name="Text 1"/>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13</a:t>
            </a:r>
            <a:endParaRPr lang="en-US" sz="1600" dirty="0"/>
          </a:p>
        </p:txBody>
      </p:sp>
      <p:sp>
        <p:nvSpPr>
          <p:cNvPr id="4" name="Text 2"/>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5B5F7A"/>
                </a:solidFill>
                <a:latin typeface="Calibri" panose="020F0502020204030204" pitchFamily="34" charset="0"/>
                <a:ea typeface="Calibri" panose="020F0502020204030204" pitchFamily="34" charset="-122"/>
                <a:cs typeface="Calibri" panose="020F0502020204030204" pitchFamily="34" charset="-120"/>
              </a:rPr>
              <a:t>FUTURE ENHANCEMENTS</a:t>
            </a:r>
            <a:endParaRPr lang="en-US" sz="1300" dirty="0"/>
          </a:p>
        </p:txBody>
      </p:sp>
      <p:sp>
        <p:nvSpPr>
          <p:cNvPr id="5" name="Shape 3"/>
          <p:cNvSpPr/>
          <p:nvPr/>
        </p:nvSpPr>
        <p:spPr>
          <a:xfrm>
            <a:off x="548640" y="1463040"/>
            <a:ext cx="11091672" cy="4663440"/>
          </a:xfrm>
          <a:prstGeom prst="roundRect">
            <a:avLst>
              <a:gd name="adj" fmla="val 1961"/>
            </a:avLst>
          </a:prstGeom>
          <a:solidFill>
            <a:srgbClr val="EEF3FD"/>
          </a:solidFill>
        </p:spPr>
        <p:txBody>
          <a:bodyPr/>
          <a:lstStyle/>
          <a:p>
            <a:endParaRPr lang="en-US"/>
          </a:p>
        </p:txBody>
      </p:sp>
      <p:sp>
        <p:nvSpPr>
          <p:cNvPr id="6" name="Text 4"/>
          <p:cNvSpPr/>
          <p:nvPr/>
        </p:nvSpPr>
        <p:spPr>
          <a:xfrm>
            <a:off x="868680" y="1737360"/>
            <a:ext cx="10424160" cy="365760"/>
          </a:xfrm>
          <a:prstGeom prst="rect">
            <a:avLst/>
          </a:prstGeom>
          <a:noFill/>
        </p:spPr>
        <p:txBody>
          <a:bodyPr wrap="square" lIns="0" tIns="0" rIns="0" bIns="0" rtlCol="0" anchor="ctr"/>
          <a:lstStyle/>
          <a:p>
            <a:pPr marL="0" indent="0">
              <a:buNone/>
            </a:pPr>
            <a:r>
              <a:rPr lang="en-US" sz="1500" b="1" dirty="0">
                <a:solidFill>
                  <a:srgbClr val="1E2761"/>
                </a:solidFill>
                <a:latin typeface="Calibri" panose="020F0502020204030204" pitchFamily="34" charset="0"/>
                <a:ea typeface="Calibri" panose="020F0502020204030204" pitchFamily="34" charset="-122"/>
                <a:cs typeface="Calibri" panose="020F0502020204030204" pitchFamily="34" charset="-120"/>
              </a:rPr>
              <a:t>Possible improvements</a:t>
            </a:r>
            <a:endParaRPr lang="en-US" sz="1500" dirty="0"/>
          </a:p>
        </p:txBody>
      </p:sp>
      <p:sp>
        <p:nvSpPr>
          <p:cNvPr id="8" name="Text 6"/>
          <p:cNvSpPr/>
          <p:nvPr/>
        </p:nvSpPr>
        <p:spPr>
          <a:xfrm>
            <a:off x="996696" y="2399663"/>
            <a:ext cx="10076688" cy="685800"/>
          </a:xfrm>
          <a:prstGeom prst="rect">
            <a:avLst/>
          </a:prstGeom>
          <a:noFill/>
        </p:spPr>
        <p:txBody>
          <a:bodyPr wrap="square" lIns="0" tIns="0" rIns="0" bIns="0" rtlCol="0" anchor="t"/>
          <a:lstStyle/>
          <a:p>
            <a:pPr marL="285750" lvl="0" indent="-285750">
              <a:lnSpc>
                <a:spcPct val="250000"/>
              </a:lnSpc>
              <a:buClr>
                <a:schemeClr val="accent2"/>
              </a:buClr>
              <a:buFont typeface="Arial" panose="020B0604020202020204" pitchFamily="34" charset="0"/>
              <a:buChar char="•"/>
            </a:pPr>
            <a:r>
              <a:rPr lang="en-US" sz="1400" b="1" dirty="0"/>
              <a:t>AI-based Plant Disease Detection</a:t>
            </a:r>
            <a:r>
              <a:rPr lang="en-US" sz="1400" dirty="0"/>
              <a:t> can identify plant diseases from leaf images and suggest suitable care recommendations. </a:t>
            </a:r>
          </a:p>
          <a:p>
            <a:pPr marL="285750" lvl="0" indent="-285750">
              <a:lnSpc>
                <a:spcPct val="250000"/>
              </a:lnSpc>
              <a:buClr>
                <a:schemeClr val="accent2"/>
              </a:buClr>
              <a:buFont typeface="Arial" panose="020B0604020202020204" pitchFamily="34" charset="0"/>
              <a:buChar char="•"/>
            </a:pPr>
            <a:r>
              <a:rPr lang="en-US" sz="1400" b="1" dirty="0"/>
              <a:t>Personalized Care Recommendations</a:t>
            </a:r>
            <a:r>
              <a:rPr lang="en-US" sz="1400" dirty="0"/>
              <a:t> can provide plant-specific suggestions based on species, health history, and care patterns. </a:t>
            </a:r>
          </a:p>
          <a:p>
            <a:pPr marL="285750" lvl="0" indent="-285750">
              <a:lnSpc>
                <a:spcPct val="250000"/>
              </a:lnSpc>
              <a:buClr>
                <a:schemeClr val="accent2"/>
              </a:buClr>
              <a:buFont typeface="Arial" panose="020B0604020202020204" pitchFamily="34" charset="0"/>
              <a:buChar char="•"/>
            </a:pPr>
            <a:r>
              <a:rPr lang="en-US" sz="1400" b="1" dirty="0"/>
              <a:t>Email &amp; Push Notifications</a:t>
            </a:r>
            <a:r>
              <a:rPr lang="en-US" sz="1400" dirty="0"/>
              <a:t> can provide timely reminders for upcoming and overdue plant care activities. </a:t>
            </a:r>
          </a:p>
          <a:p>
            <a:pPr marL="285750" lvl="0" indent="-285750">
              <a:lnSpc>
                <a:spcPct val="250000"/>
              </a:lnSpc>
              <a:buClr>
                <a:schemeClr val="accent2"/>
              </a:buClr>
              <a:buFont typeface="Arial" panose="020B0604020202020204" pitchFamily="34" charset="0"/>
              <a:buChar char="•"/>
            </a:pPr>
            <a:r>
              <a:rPr lang="en-US" sz="1400" b="1" dirty="0"/>
              <a:t>Cloud Deployment &amp; Scalability</a:t>
            </a:r>
            <a:r>
              <a:rPr lang="en-US" sz="1400" dirty="0"/>
              <a:t> can make the application accessible remotely and support more users and data.</a:t>
            </a:r>
          </a:p>
        </p:txBody>
      </p:sp>
      <p:sp>
        <p:nvSpPr>
          <p:cNvPr id="15" name="Text 13"/>
          <p:cNvSpPr/>
          <p:nvPr/>
        </p:nvSpPr>
        <p:spPr>
          <a:xfrm>
            <a:off x="548640" y="6510528"/>
            <a:ext cx="5486400" cy="274320"/>
          </a:xfrm>
          <a:prstGeom prst="rect">
            <a:avLst/>
          </a:prstGeom>
          <a:noFill/>
        </p:spPr>
        <p:txBody>
          <a:bodyPr wrap="square" lIns="0" tIns="0" rIns="0" bIns="0" rtlCol="0" anchor="ctr"/>
          <a:lstStyle/>
          <a:p>
            <a:r>
              <a:rPr lang="en-US" sz="900" dirty="0">
                <a:solidFill>
                  <a:srgbClr val="5B5F7A"/>
                </a:solidFill>
                <a:latin typeface="Calibri" panose="020F0502020204030204" pitchFamily="34" charset="0"/>
                <a:ea typeface="Calibri" panose="020F0502020204030204" pitchFamily="34" charset="-122"/>
                <a:cs typeface="Calibri" panose="020F0502020204030204" pitchFamily="34" charset="-120"/>
              </a:rPr>
              <a:t>Project Review  ·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Suchitra</a:t>
            </a:r>
            <a:r>
              <a:rPr lang="en-US" sz="900" b="1"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 </a:t>
            </a:r>
            <a:r>
              <a:rPr lang="en-US" sz="900" dirty="0">
                <a:solidFill>
                  <a:schemeClr val="tx1">
                    <a:lumMod val="50000"/>
                    <a:lumOff val="50000"/>
                  </a:schemeClr>
                </a:solidFill>
                <a:latin typeface="Calibri" panose="020F0502020204030204" pitchFamily="34" charset="0"/>
                <a:ea typeface="Calibri" panose="020F0502020204030204" pitchFamily="34" charset="-122"/>
                <a:cs typeface="Calibri" panose="020F0502020204030204" pitchFamily="34" charset="-120"/>
              </a:rPr>
              <a:t>K M</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875520" y="-1280160"/>
            <a:ext cx="3657600" cy="3657600"/>
          </a:xfrm>
          <a:prstGeom prst="ellipse">
            <a:avLst/>
          </a:prstGeom>
          <a:solidFill>
            <a:srgbClr val="161C4D"/>
          </a:solidFill>
        </p:spPr>
        <p:txBody>
          <a:bodyPr/>
          <a:lstStyle/>
          <a:p>
            <a:endParaRPr lang="en-US"/>
          </a:p>
        </p:txBody>
      </p:sp>
      <p:sp>
        <p:nvSpPr>
          <p:cNvPr id="3" name="Shape 1"/>
          <p:cNvSpPr/>
          <p:nvPr/>
        </p:nvSpPr>
        <p:spPr>
          <a:xfrm>
            <a:off x="-1645920" y="4206240"/>
            <a:ext cx="3291840" cy="3291840"/>
          </a:xfrm>
          <a:prstGeom prst="ellipse">
            <a:avLst/>
          </a:prstGeom>
          <a:solidFill>
            <a:srgbClr val="161C4D"/>
          </a:solidFill>
        </p:spPr>
        <p:txBody>
          <a:bodyPr/>
          <a:lstStyle/>
          <a:p>
            <a:endParaRPr lang="en-US"/>
          </a:p>
        </p:txBody>
      </p:sp>
      <p:sp>
        <p:nvSpPr>
          <p:cNvPr id="4" name="Shape 2"/>
          <p:cNvSpPr/>
          <p:nvPr/>
        </p:nvSpPr>
        <p:spPr>
          <a:xfrm>
            <a:off x="548640" y="502920"/>
            <a:ext cx="457200" cy="457200"/>
          </a:xfrm>
          <a:prstGeom prst="ellipse">
            <a:avLst/>
          </a:prstGeom>
          <a:solidFill>
            <a:srgbClr val="FFFFFF"/>
          </a:solidFill>
        </p:spPr>
        <p:txBody>
          <a:bodyPr/>
          <a:lstStyle/>
          <a:p>
            <a:endParaRPr lang="en-US"/>
          </a:p>
        </p:txBody>
      </p:sp>
      <p:sp>
        <p:nvSpPr>
          <p:cNvPr id="5" name="Text 3"/>
          <p:cNvSpPr/>
          <p:nvPr/>
        </p:nvSpPr>
        <p:spPr>
          <a:xfrm>
            <a:off x="548640" y="502920"/>
            <a:ext cx="457200" cy="457200"/>
          </a:xfrm>
          <a:prstGeom prst="rect">
            <a:avLst/>
          </a:prstGeom>
          <a:noFill/>
        </p:spPr>
        <p:txBody>
          <a:bodyPr wrap="square" lIns="0" tIns="0" rIns="0" bIns="0" rtlCol="0" anchor="ctr"/>
          <a:lstStyle/>
          <a:p>
            <a:pPr marL="0" indent="0" algn="ctr">
              <a:buNone/>
            </a:pPr>
            <a:r>
              <a:rPr lang="en-US" sz="1600" b="1" dirty="0">
                <a:solidFill>
                  <a:srgbClr val="1E2761"/>
                </a:solidFill>
                <a:latin typeface="Calibri" panose="020F0502020204030204" pitchFamily="34" charset="0"/>
                <a:ea typeface="Calibri" panose="020F0502020204030204" pitchFamily="34" charset="-122"/>
                <a:cs typeface="Calibri" panose="020F0502020204030204" pitchFamily="34" charset="-120"/>
              </a:rPr>
              <a:t>14</a:t>
            </a:r>
            <a:endParaRPr lang="en-US" sz="1600" dirty="0"/>
          </a:p>
        </p:txBody>
      </p:sp>
      <p:sp>
        <p:nvSpPr>
          <p:cNvPr id="6" name="Text 4"/>
          <p:cNvSpPr/>
          <p:nvPr/>
        </p:nvSpPr>
        <p:spPr>
          <a:xfrm>
            <a:off x="1143000" y="502920"/>
            <a:ext cx="8229600" cy="457200"/>
          </a:xfrm>
          <a:prstGeom prst="rect">
            <a:avLst/>
          </a:prstGeom>
          <a:noFill/>
        </p:spPr>
        <p:txBody>
          <a:bodyPr wrap="square" lIns="0" tIns="0" rIns="0" bIns="0" rtlCol="0" anchor="ctr"/>
          <a:lstStyle/>
          <a:p>
            <a:pPr marL="0" indent="0">
              <a:buNone/>
            </a:pPr>
            <a:r>
              <a:rPr lang="en-US" sz="1300" b="1" kern="0" spc="100" dirty="0">
                <a:solidFill>
                  <a:srgbClr val="CADCFC"/>
                </a:solidFill>
                <a:latin typeface="Calibri" panose="020F0502020204030204" pitchFamily="34" charset="0"/>
                <a:ea typeface="Calibri" panose="020F0502020204030204" pitchFamily="34" charset="-122"/>
                <a:cs typeface="Calibri" panose="020F0502020204030204" pitchFamily="34" charset="-120"/>
              </a:rPr>
              <a:t>CONCLUSION</a:t>
            </a:r>
            <a:endParaRPr lang="en-US" sz="1300" dirty="0"/>
          </a:p>
        </p:txBody>
      </p:sp>
      <p:sp>
        <p:nvSpPr>
          <p:cNvPr id="7" name="Text 5"/>
          <p:cNvSpPr/>
          <p:nvPr/>
        </p:nvSpPr>
        <p:spPr>
          <a:xfrm>
            <a:off x="536608" y="1316736"/>
            <a:ext cx="10515600" cy="365760"/>
          </a:xfrm>
          <a:prstGeom prst="rect">
            <a:avLst/>
          </a:prstGeom>
          <a:noFill/>
        </p:spPr>
        <p:txBody>
          <a:bodyPr wrap="square" lIns="0" tIns="0" rIns="0" bIns="0" rtlCol="0" anchor="ctr"/>
          <a:lstStyle/>
          <a:p>
            <a:pPr marL="0" indent="0">
              <a:buNone/>
            </a:pP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Summary</a:t>
            </a:r>
            <a:endParaRPr lang="en-US" sz="1400" dirty="0"/>
          </a:p>
        </p:txBody>
      </p:sp>
      <p:sp>
        <p:nvSpPr>
          <p:cNvPr id="8" name="Text 6"/>
          <p:cNvSpPr/>
          <p:nvPr/>
        </p:nvSpPr>
        <p:spPr>
          <a:xfrm>
            <a:off x="548640" y="1682496"/>
            <a:ext cx="9477676" cy="1362456"/>
          </a:xfrm>
          <a:prstGeom prst="rect">
            <a:avLst/>
          </a:prstGeom>
          <a:noFill/>
        </p:spPr>
        <p:txBody>
          <a:bodyPr wrap="square" lIns="0" tIns="0" rIns="0" bIns="0" rtlCol="0" anchor="ctr"/>
          <a:lstStyle/>
          <a:p>
            <a:pPr>
              <a:lnSpc>
                <a:spcPct val="115000"/>
              </a:lnSpc>
            </a:pPr>
            <a:r>
              <a:rPr lang="en-US" sz="1400" dirty="0">
                <a:solidFill>
                  <a:schemeClr val="bg1">
                    <a:lumMod val="95000"/>
                  </a:schemeClr>
                </a:solidFill>
                <a:latin typeface="Calibri" pitchFamily="34" charset="0"/>
                <a:ea typeface="Calibri" pitchFamily="34" charset="-122"/>
                <a:cs typeface="Calibri" pitchFamily="34" charset="-120"/>
              </a:rPr>
              <a:t>Plant Care Scheduler delivers a complete, working full-stack solution to a real and untracked problem. The Spring Boot backend exposes a secured REST API across 11 controllers over 10 related entities, protected by stateless JWT authentication and three-tier role-based access control. The React 19 client consumes that API through eleven service modules and eleven guarded pages, giving owners, specialists and administrators a single place to schedule care, record plant health and growing conditions, consult experts and share knowledge.</a:t>
            </a:r>
            <a:endParaRPr lang="en-US" sz="1400" dirty="0">
              <a:solidFill>
                <a:schemeClr val="bg1">
                  <a:lumMod val="95000"/>
                </a:schemeClr>
              </a:solidFill>
            </a:endParaRPr>
          </a:p>
        </p:txBody>
      </p:sp>
      <p:sp>
        <p:nvSpPr>
          <p:cNvPr id="9" name="Text 7"/>
          <p:cNvSpPr/>
          <p:nvPr/>
        </p:nvSpPr>
        <p:spPr>
          <a:xfrm>
            <a:off x="533400" y="3221896"/>
            <a:ext cx="10515600" cy="365760"/>
          </a:xfrm>
          <a:prstGeom prst="rect">
            <a:avLst/>
          </a:prstGeom>
          <a:noFill/>
        </p:spPr>
        <p:txBody>
          <a:bodyPr wrap="square" lIns="0" tIns="0" rIns="0" bIns="0" rtlCol="0" anchor="ctr"/>
          <a:lstStyle/>
          <a:p>
            <a:pPr marL="0" indent="0">
              <a:buNone/>
            </a:pPr>
            <a:r>
              <a:rPr lang="en-US" sz="1400" b="1" dirty="0">
                <a:solidFill>
                  <a:srgbClr val="CADCFC"/>
                </a:solidFill>
                <a:latin typeface="Calibri" panose="020F0502020204030204" pitchFamily="34" charset="0"/>
                <a:ea typeface="Calibri" panose="020F0502020204030204" pitchFamily="34" charset="-122"/>
                <a:cs typeface="Calibri" panose="020F0502020204030204" pitchFamily="34" charset="-120"/>
              </a:rPr>
              <a:t>Key achievements</a:t>
            </a:r>
            <a:endParaRPr lang="en-US" sz="1400" dirty="0"/>
          </a:p>
        </p:txBody>
      </p:sp>
      <p:sp>
        <p:nvSpPr>
          <p:cNvPr id="10" name="Shape 8"/>
          <p:cNvSpPr/>
          <p:nvPr/>
        </p:nvSpPr>
        <p:spPr>
          <a:xfrm>
            <a:off x="533400" y="3887485"/>
            <a:ext cx="100584" cy="100584"/>
          </a:xfrm>
          <a:prstGeom prst="ellipse">
            <a:avLst/>
          </a:prstGeom>
          <a:solidFill>
            <a:srgbClr val="E8A33D"/>
          </a:solidFill>
        </p:spPr>
        <p:txBody>
          <a:bodyPr/>
          <a:lstStyle/>
          <a:p>
            <a:endParaRPr lang="en-US"/>
          </a:p>
        </p:txBody>
      </p:sp>
      <p:sp>
        <p:nvSpPr>
          <p:cNvPr id="11" name="Text 9"/>
          <p:cNvSpPr/>
          <p:nvPr/>
        </p:nvSpPr>
        <p:spPr>
          <a:xfrm>
            <a:off x="850392" y="3703320"/>
            <a:ext cx="10168128" cy="502920"/>
          </a:xfrm>
          <a:prstGeom prst="rect">
            <a:avLst/>
          </a:prstGeom>
          <a:noFill/>
        </p:spPr>
        <p:txBody>
          <a:bodyPr wrap="square" lIns="0" tIns="0" rIns="0" bIns="0" rtlCol="0" anchor="t"/>
          <a:lstStyle/>
          <a:p>
            <a:r>
              <a:rPr lang="en-US" sz="1400" dirty="0">
                <a:solidFill>
                  <a:schemeClr val="bg1">
                    <a:lumMod val="95000"/>
                  </a:schemeClr>
                </a:solidFill>
                <a:latin typeface="Calibri" pitchFamily="34" charset="0"/>
                <a:ea typeface="Calibri" pitchFamily="34" charset="-122"/>
                <a:cs typeface="Calibri" pitchFamily="34" charset="-120"/>
              </a:rPr>
              <a:t>Designed and implemented a 10-entity relational data model in MySQL with full JPA mapping, LAZY fetching and a dedicated DTO/mapper layer</a:t>
            </a:r>
            <a:endParaRPr lang="en-US" sz="1400" dirty="0">
              <a:solidFill>
                <a:schemeClr val="bg1">
                  <a:lumMod val="95000"/>
                </a:schemeClr>
              </a:solidFill>
            </a:endParaRPr>
          </a:p>
        </p:txBody>
      </p:sp>
      <p:sp>
        <p:nvSpPr>
          <p:cNvPr id="12" name="Shape 10"/>
          <p:cNvSpPr/>
          <p:nvPr/>
        </p:nvSpPr>
        <p:spPr>
          <a:xfrm>
            <a:off x="548640" y="4416552"/>
            <a:ext cx="100584" cy="100584"/>
          </a:xfrm>
          <a:prstGeom prst="ellipse">
            <a:avLst/>
          </a:prstGeom>
          <a:solidFill>
            <a:srgbClr val="E8A33D"/>
          </a:solidFill>
        </p:spPr>
        <p:txBody>
          <a:bodyPr/>
          <a:lstStyle/>
          <a:p>
            <a:endParaRPr lang="en-US"/>
          </a:p>
        </p:txBody>
      </p:sp>
      <p:sp>
        <p:nvSpPr>
          <p:cNvPr id="13" name="Text 11"/>
          <p:cNvSpPr/>
          <p:nvPr/>
        </p:nvSpPr>
        <p:spPr>
          <a:xfrm>
            <a:off x="850392" y="4287012"/>
            <a:ext cx="10168128" cy="502920"/>
          </a:xfrm>
          <a:prstGeom prst="rect">
            <a:avLst/>
          </a:prstGeom>
          <a:noFill/>
        </p:spPr>
        <p:txBody>
          <a:bodyPr wrap="square" lIns="0" tIns="0" rIns="0" bIns="0" rtlCol="0" anchor="t"/>
          <a:lstStyle/>
          <a:p>
            <a:r>
              <a:rPr lang="en-US" sz="1400" dirty="0">
                <a:solidFill>
                  <a:schemeClr val="bg1">
                    <a:lumMod val="95000"/>
                  </a:schemeClr>
                </a:solidFill>
                <a:latin typeface="Calibri" pitchFamily="34" charset="0"/>
                <a:ea typeface="Calibri" pitchFamily="34" charset="-122"/>
                <a:cs typeface="Calibri" pitchFamily="34" charset="-120"/>
              </a:rPr>
              <a:t>Built a secured REST API of 11 controllers with stateless JWT authentication, </a:t>
            </a:r>
            <a:r>
              <a:rPr lang="en-US" sz="1400" dirty="0" err="1">
                <a:solidFill>
                  <a:schemeClr val="bg1">
                    <a:lumMod val="95000"/>
                  </a:schemeClr>
                </a:solidFill>
                <a:latin typeface="Calibri" pitchFamily="34" charset="0"/>
                <a:ea typeface="Calibri" pitchFamily="34" charset="-122"/>
                <a:cs typeface="Calibri" pitchFamily="34" charset="-120"/>
              </a:rPr>
              <a:t>BCrypt</a:t>
            </a:r>
            <a:r>
              <a:rPr lang="en-US" sz="1400" dirty="0">
                <a:solidFill>
                  <a:schemeClr val="bg1">
                    <a:lumMod val="95000"/>
                  </a:schemeClr>
                </a:solidFill>
                <a:latin typeface="Calibri" pitchFamily="34" charset="0"/>
                <a:ea typeface="Calibri" pitchFamily="34" charset="-122"/>
                <a:cs typeface="Calibri" pitchFamily="34" charset="-120"/>
              </a:rPr>
              <a:t> hashing and role-based </a:t>
            </a:r>
            <a:r>
              <a:rPr lang="en-US" sz="1400" dirty="0" err="1">
                <a:solidFill>
                  <a:schemeClr val="bg1">
                    <a:lumMod val="95000"/>
                  </a:schemeClr>
                </a:solidFill>
                <a:latin typeface="Calibri" pitchFamily="34" charset="0"/>
                <a:ea typeface="Calibri" pitchFamily="34" charset="-122"/>
                <a:cs typeface="Calibri" pitchFamily="34" charset="-120"/>
              </a:rPr>
              <a:t>authorisation</a:t>
            </a:r>
            <a:r>
              <a:rPr lang="en-US" sz="1400" dirty="0">
                <a:solidFill>
                  <a:schemeClr val="bg1">
                    <a:lumMod val="95000"/>
                  </a:schemeClr>
                </a:solidFill>
                <a:latin typeface="Calibri" pitchFamily="34" charset="0"/>
                <a:ea typeface="Calibri" pitchFamily="34" charset="-122"/>
                <a:cs typeface="Calibri" pitchFamily="34" charset="-120"/>
              </a:rPr>
              <a:t> for USER, SPECIALIST and ADMIN</a:t>
            </a:r>
            <a:endParaRPr lang="en-US" sz="1400" dirty="0">
              <a:solidFill>
                <a:schemeClr val="bg1">
                  <a:lumMod val="95000"/>
                </a:schemeClr>
              </a:solidFill>
            </a:endParaRPr>
          </a:p>
        </p:txBody>
      </p:sp>
      <p:sp>
        <p:nvSpPr>
          <p:cNvPr id="14" name="Shape 12"/>
          <p:cNvSpPr/>
          <p:nvPr/>
        </p:nvSpPr>
        <p:spPr>
          <a:xfrm>
            <a:off x="533400" y="5026472"/>
            <a:ext cx="100584" cy="100584"/>
          </a:xfrm>
          <a:prstGeom prst="ellipse">
            <a:avLst/>
          </a:prstGeom>
          <a:solidFill>
            <a:srgbClr val="E8A33D"/>
          </a:solidFill>
        </p:spPr>
        <p:txBody>
          <a:bodyPr/>
          <a:lstStyle/>
          <a:p>
            <a:endParaRPr lang="en-US"/>
          </a:p>
        </p:txBody>
      </p:sp>
      <p:sp>
        <p:nvSpPr>
          <p:cNvPr id="15" name="Text 13"/>
          <p:cNvSpPr/>
          <p:nvPr/>
        </p:nvSpPr>
        <p:spPr>
          <a:xfrm>
            <a:off x="850392" y="4884821"/>
            <a:ext cx="10168128" cy="502920"/>
          </a:xfrm>
          <a:prstGeom prst="rect">
            <a:avLst/>
          </a:prstGeom>
          <a:noFill/>
        </p:spPr>
        <p:txBody>
          <a:bodyPr wrap="square" lIns="0" tIns="0" rIns="0" bIns="0" rtlCol="0" anchor="t"/>
          <a:lstStyle/>
          <a:p>
            <a:r>
              <a:rPr lang="en-US" sz="1400" dirty="0" err="1">
                <a:solidFill>
                  <a:schemeClr val="bg1">
                    <a:lumMod val="95000"/>
                  </a:schemeClr>
                </a:solidFill>
                <a:latin typeface="Calibri" pitchFamily="34" charset="0"/>
                <a:ea typeface="Calibri" pitchFamily="34" charset="-122"/>
                <a:cs typeface="Calibri" pitchFamily="34" charset="-120"/>
              </a:rPr>
              <a:t>Standardised</a:t>
            </a:r>
            <a:r>
              <a:rPr lang="en-US" sz="1400" dirty="0">
                <a:solidFill>
                  <a:schemeClr val="bg1">
                    <a:lumMod val="95000"/>
                  </a:schemeClr>
                </a:solidFill>
                <a:latin typeface="Calibri" pitchFamily="34" charset="0"/>
                <a:ea typeface="Calibri" pitchFamily="34" charset="-122"/>
                <a:cs typeface="Calibri" pitchFamily="34" charset="-120"/>
              </a:rPr>
              <a:t> validation and error handling through Hibernate Validator and a global exception handler, and documented the full API with SpringDoc </a:t>
            </a:r>
            <a:r>
              <a:rPr lang="en-US" sz="1400" dirty="0" err="1">
                <a:solidFill>
                  <a:schemeClr val="bg1">
                    <a:lumMod val="95000"/>
                  </a:schemeClr>
                </a:solidFill>
                <a:latin typeface="Calibri" pitchFamily="34" charset="0"/>
                <a:ea typeface="Calibri" pitchFamily="34" charset="-122"/>
                <a:cs typeface="Calibri" pitchFamily="34" charset="-120"/>
              </a:rPr>
              <a:t>OpenAPI</a:t>
            </a:r>
            <a:r>
              <a:rPr lang="en-US" sz="1400" dirty="0">
                <a:solidFill>
                  <a:schemeClr val="bg1">
                    <a:lumMod val="95000"/>
                  </a:schemeClr>
                </a:solidFill>
                <a:latin typeface="Calibri" pitchFamily="34" charset="0"/>
                <a:ea typeface="Calibri" pitchFamily="34" charset="-122"/>
                <a:cs typeface="Calibri" pitchFamily="34" charset="-120"/>
              </a:rPr>
              <a:t> / Swagger UI</a:t>
            </a:r>
            <a:endParaRPr lang="en-US" sz="1400" dirty="0">
              <a:solidFill>
                <a:schemeClr val="bg1">
                  <a:lumMod val="95000"/>
                </a:schemeClr>
              </a:solidFill>
            </a:endParaRPr>
          </a:p>
        </p:txBody>
      </p:sp>
      <p:sp>
        <p:nvSpPr>
          <p:cNvPr id="16" name="Shape 14"/>
          <p:cNvSpPr/>
          <p:nvPr/>
        </p:nvSpPr>
        <p:spPr>
          <a:xfrm>
            <a:off x="533400" y="5643613"/>
            <a:ext cx="2743200" cy="0"/>
          </a:xfrm>
          <a:prstGeom prst="line">
            <a:avLst/>
          </a:prstGeom>
          <a:noFill/>
          <a:ln w="12700">
            <a:solidFill>
              <a:srgbClr val="CADCFC"/>
            </a:solidFill>
            <a:prstDash val="solid"/>
          </a:ln>
        </p:spPr>
        <p:txBody>
          <a:bodyPr/>
          <a:lstStyle/>
          <a:p>
            <a:endParaRPr lang="en-US" dirty="0"/>
          </a:p>
        </p:txBody>
      </p:sp>
      <p:sp>
        <p:nvSpPr>
          <p:cNvPr id="17" name="Text 15"/>
          <p:cNvSpPr/>
          <p:nvPr/>
        </p:nvSpPr>
        <p:spPr>
          <a:xfrm>
            <a:off x="533400" y="5873496"/>
            <a:ext cx="7315200" cy="457200"/>
          </a:xfrm>
          <a:prstGeom prst="rect">
            <a:avLst/>
          </a:prstGeom>
          <a:noFill/>
        </p:spPr>
        <p:txBody>
          <a:bodyPr wrap="square" lIns="0" tIns="0" rIns="0" bIns="0" rtlCol="0" anchor="ctr"/>
          <a:lstStyle/>
          <a:p>
            <a:pPr marL="0" indent="0">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  ·  Questions welcome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2123</Words>
  <Application>Microsoft Office PowerPoint</Application>
  <PresentationFormat>Widescreen</PresentationFormat>
  <Paragraphs>275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SUCHITRA K M</cp:lastModifiedBy>
  <cp:revision>4</cp:revision>
  <dcterms:created xsi:type="dcterms:W3CDTF">2026-09-15T04:47:00Z</dcterms:created>
  <dcterms:modified xsi:type="dcterms:W3CDTF">2026-09-23T13:52:40Z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F023F6306F69438C9E579917931411E6_13</vt:lpwstr>
  </property>
  <property fmtid="{D5CDD505-2E9C-101B-9397-08002B2CF9AE}" pid="3" name="KSOProductBuildVer">
    <vt:lpwstr>2057-12.2.0.23206</vt:lpwstr>
  </property>
</Properties>
</file>