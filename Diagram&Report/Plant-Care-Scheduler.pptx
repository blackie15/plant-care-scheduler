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7" r:id="rId13"/>
    <p:sldId id="266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268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79AA-B8DE-AF41-8C97-5BCF6CF5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C9099-09AC-D4B5-391B-0A6B26BE1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FC29F-2B31-FA33-0B85-8919DF277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8ED85-1A8E-FAEC-06CB-4D3DF250C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75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E9649-6355-1BD8-12F3-BE87342B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1470A-9D6E-2491-E66E-B72C62453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258CD-32F7-0F49-E975-E55FB2043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995C5-F720-53C1-9A04-7A4A74840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10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A2D7-C03C-7D65-06F7-D46F4664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AB624-CC5B-7E3B-9451-DA84B09E1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DD8A3-20C8-A2AF-16B3-D82F1D824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A7BBD-D82D-6575-BC60-0584702B1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68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F3DF0-4F71-C2EA-B08B-075CEB006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26DE8-9511-6812-D2D6-D8353E3F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9F661-4B98-EBCB-5688-03A3793CE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30D80-9C66-5C52-EECD-44EF11F2E9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79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-64071" y="1119001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8" name="Text 6"/>
          <p:cNvSpPr/>
          <p:nvPr/>
        </p:nvSpPr>
        <p:spPr>
          <a:xfrm>
            <a:off x="-4093" y="1085255"/>
            <a:ext cx="86636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4529" y="341969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86160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34690"/>
            <a:ext cx="5090636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3600" b="1" kern="0" spc="-6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377380" y="2044898"/>
            <a:ext cx="4053892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4"/>
              </a:lnSpc>
              <a:buNone/>
            </a:pPr>
            <a:r>
              <a:rPr lang="en-US" sz="14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REST API for plant care</a:t>
            </a:r>
            <a:endParaRPr lang="en-US" sz="1440" dirty="0"/>
          </a:p>
          <a:p>
            <a:pPr marL="0" indent="0" algn="l">
              <a:lnSpc>
                <a:spcPts val="2304"/>
              </a:lnSpc>
              <a:buNone/>
            </a:pPr>
            <a:r>
              <a:rPr lang="en-US" sz="144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2376971" y="2801764"/>
            <a:ext cx="4271963" cy="442913"/>
          </a:xfrm>
          <a:prstGeom prst="roundRect">
            <a:avLst>
              <a:gd name="adj" fmla="val 10323"/>
            </a:avLst>
          </a:prstGeom>
          <a:solidFill>
            <a:srgbClr val="9ECE6A">
              <a:alpha val="10000"/>
            </a:srgbClr>
          </a:solidFill>
          <a:ln w="4763">
            <a:solidFill>
              <a:srgbClr val="9ECE6A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6672" y="2927747"/>
            <a:ext cx="6278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9ECE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22786" y="2914055"/>
            <a:ext cx="44205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Spring Boot 3 · Java 17 · REST 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380" y="3473500"/>
            <a:ext cx="117534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76934" y="3855802"/>
            <a:ext cx="2995613" cy="947737"/>
          </a:xfrm>
          <a:prstGeom prst="roundRect">
            <a:avLst>
              <a:gd name="adj" fmla="val 4824"/>
            </a:avLst>
          </a:prstGeom>
          <a:solidFill>
            <a:srgbClr val="16161E"/>
          </a:solidFill>
          <a:ln w="4763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6672" y="3997672"/>
            <a:ext cx="131242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A2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git clone \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683818" y="4231704"/>
            <a:ext cx="24535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0AF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github.com/Blackie15/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83818" y="4465737"/>
            <a:ext cx="279590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0AF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Plant-Care-Scheduler.git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91634" y="3450654"/>
            <a:ext cx="2995613" cy="328613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5692080" y="3487192"/>
            <a:ext cx="71961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29834" y="3558294"/>
            <a:ext cx="57150" cy="5715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3" name="Text 31"/>
          <p:cNvSpPr/>
          <p:nvPr/>
        </p:nvSpPr>
        <p:spPr>
          <a:xfrm>
            <a:off x="6931521" y="3463975"/>
            <a:ext cx="233901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9ECE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BACKEND COMPLETE</a:t>
            </a:r>
            <a:endParaRPr lang="en-US" sz="1440" dirty="0"/>
          </a:p>
        </p:txBody>
      </p:sp>
      <p:sp>
        <p:nvSpPr>
          <p:cNvPr id="34" name="Shape 32"/>
          <p:cNvSpPr/>
          <p:nvPr/>
        </p:nvSpPr>
        <p:spPr>
          <a:xfrm>
            <a:off x="5691634" y="3883930"/>
            <a:ext cx="2995613" cy="1414463"/>
          </a:xfrm>
          <a:prstGeom prst="roundRect">
            <a:avLst>
              <a:gd name="adj" fmla="val 3232"/>
            </a:avLst>
          </a:prstGeom>
          <a:solidFill>
            <a:srgbClr val="16161E"/>
          </a:solidFill>
          <a:ln w="4763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61372" y="4025131"/>
            <a:ext cx="1713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0CAF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{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98518" y="4259163"/>
            <a:ext cx="23396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A2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"phase"</a:t>
            </a:r>
            <a:r>
              <a:rPr lang="en-US" sz="1150" dirty="0">
                <a:solidFill>
                  <a:srgbClr val="C0CAF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1150" dirty="0">
                <a:solidFill>
                  <a:srgbClr val="E0AF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"Review I"</a:t>
            </a:r>
            <a:r>
              <a:rPr lang="en-US" sz="1150" dirty="0">
                <a:solidFill>
                  <a:srgbClr val="C0CAF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98518" y="4493196"/>
            <a:ext cx="27961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A2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"scope"</a:t>
            </a:r>
            <a:r>
              <a:rPr lang="en-US" sz="1150" dirty="0">
                <a:solidFill>
                  <a:srgbClr val="C0CAF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1150" dirty="0">
                <a:solidFill>
                  <a:srgbClr val="E0AF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"Backend only"</a:t>
            </a:r>
            <a:r>
              <a:rPr lang="en-US" sz="1150" dirty="0">
                <a:solidFill>
                  <a:srgbClr val="C0CAF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,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998518" y="4727228"/>
            <a:ext cx="256779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A2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"stack"</a:t>
            </a:r>
            <a:r>
              <a:rPr lang="en-US" sz="1150" dirty="0">
                <a:solidFill>
                  <a:srgbClr val="C0CAF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: </a:t>
            </a:r>
            <a:r>
              <a:rPr lang="en-US" sz="1150" dirty="0">
                <a:solidFill>
                  <a:srgbClr val="E0AF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"Spring Boot"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861372" y="4961260"/>
            <a:ext cx="1713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0CAF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}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204594" y="5323061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4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3448831"/>
            <a:ext cx="2995613" cy="304800"/>
          </a:xfrm>
          <a:prstGeom prst="rect">
            <a:avLst/>
          </a:prstGeom>
        </p:spPr>
      </p:pic>
      <p:pic>
        <p:nvPicPr>
          <p:cNvPr id="4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91634" y="3450654"/>
            <a:ext cx="2995613" cy="3286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-64071" y="1376102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9" name="Text 7"/>
          <p:cNvSpPr/>
          <p:nvPr/>
        </p:nvSpPr>
        <p:spPr>
          <a:xfrm>
            <a:off x="-4093" y="1342355"/>
            <a:ext cx="168322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4529" y="341969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14642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29928"/>
            <a:ext cx="4124995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25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2740" dirty="0"/>
          </a:p>
        </p:txBody>
      </p:sp>
      <p:sp>
        <p:nvSpPr>
          <p:cNvPr id="20" name="Shape 18"/>
          <p:cNvSpPr/>
          <p:nvPr/>
        </p:nvSpPr>
        <p:spPr>
          <a:xfrm>
            <a:off x="2376301" y="1510940"/>
            <a:ext cx="52388" cy="52388"/>
          </a:xfrm>
          <a:prstGeom prst="roundRect">
            <a:avLst>
              <a:gd name="adj" fmla="val 18182"/>
            </a:avLst>
          </a:prstGeom>
          <a:solidFill>
            <a:srgbClr val="7AA2F7"/>
          </a:solidFill>
          <a:ln/>
        </p:spPr>
      </p:sp>
      <p:sp>
        <p:nvSpPr>
          <p:cNvPr id="21" name="Text 19"/>
          <p:cNvSpPr/>
          <p:nvPr/>
        </p:nvSpPr>
        <p:spPr>
          <a:xfrm>
            <a:off x="2525959" y="1295686"/>
            <a:ext cx="7992881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Modern plant care requires continuous monitoring</a:t>
            </a:r>
          </a:p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rather than occasional watering reminders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376301" y="2193392"/>
            <a:ext cx="52388" cy="52388"/>
          </a:xfrm>
          <a:prstGeom prst="roundRect">
            <a:avLst>
              <a:gd name="adj" fmla="val 18182"/>
            </a:avLst>
          </a:prstGeom>
          <a:solidFill>
            <a:srgbClr val="7AA2F7"/>
          </a:solidFill>
          <a:ln/>
        </p:spPr>
      </p:sp>
      <p:sp>
        <p:nvSpPr>
          <p:cNvPr id="23" name="Text 21"/>
          <p:cNvSpPr/>
          <p:nvPr/>
        </p:nvSpPr>
        <p:spPr>
          <a:xfrm>
            <a:off x="2537296" y="1883718"/>
            <a:ext cx="7875731" cy="690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Current applications separate scheduling, health tracking, environmental monitoring, and</a:t>
            </a:r>
          </a:p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community support into different platforms,</a:t>
            </a:r>
          </a:p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forcing users to switch between multiple tools.</a:t>
            </a:r>
          </a:p>
        </p:txBody>
      </p:sp>
      <p:sp>
        <p:nvSpPr>
          <p:cNvPr id="24" name="Shape 22"/>
          <p:cNvSpPr/>
          <p:nvPr/>
        </p:nvSpPr>
        <p:spPr>
          <a:xfrm>
            <a:off x="2376301" y="2928231"/>
            <a:ext cx="52388" cy="52388"/>
          </a:xfrm>
          <a:prstGeom prst="roundRect">
            <a:avLst>
              <a:gd name="adj" fmla="val 18182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537296" y="2764482"/>
            <a:ext cx="7647816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Access to expert advice is limited, and there is no structured workflow connecting </a:t>
            </a:r>
          </a:p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plant owners with specialists when health issues occur.</a:t>
            </a:r>
          </a:p>
        </p:txBody>
      </p:sp>
      <p:sp>
        <p:nvSpPr>
          <p:cNvPr id="26" name="Shape 24"/>
          <p:cNvSpPr/>
          <p:nvPr/>
        </p:nvSpPr>
        <p:spPr>
          <a:xfrm>
            <a:off x="2376301" y="3558294"/>
            <a:ext cx="52388" cy="52388"/>
          </a:xfrm>
          <a:prstGeom prst="roundRect">
            <a:avLst>
              <a:gd name="adj" fmla="val 18182"/>
            </a:avLst>
          </a:prstGeom>
          <a:solidFill>
            <a:srgbClr val="7AA2F7"/>
          </a:solidFill>
          <a:ln/>
        </p:spPr>
      </p:sp>
      <p:sp>
        <p:nvSpPr>
          <p:cNvPr id="27" name="Text 25"/>
          <p:cNvSpPr/>
          <p:nvPr/>
        </p:nvSpPr>
        <p:spPr>
          <a:xfrm>
            <a:off x="2515239" y="3435064"/>
            <a:ext cx="7897788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Lack of historical care records makes it difficult to understand why a plant's condition </a:t>
            </a:r>
          </a:p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changes over time or to diagnose recurring problems.</a:t>
            </a:r>
          </a:p>
        </p:txBody>
      </p:sp>
      <p:sp>
        <p:nvSpPr>
          <p:cNvPr id="28" name="Shape 26"/>
          <p:cNvSpPr/>
          <p:nvPr/>
        </p:nvSpPr>
        <p:spPr>
          <a:xfrm>
            <a:off x="2376301" y="4240746"/>
            <a:ext cx="52388" cy="52388"/>
          </a:xfrm>
          <a:prstGeom prst="roundRect">
            <a:avLst>
              <a:gd name="adj" fmla="val 18182"/>
            </a:avLst>
          </a:prstGeom>
          <a:solidFill>
            <a:srgbClr val="7AA2F7"/>
          </a:solidFill>
          <a:ln/>
        </p:spPr>
      </p:sp>
      <p:sp>
        <p:nvSpPr>
          <p:cNvPr id="29" name="Text 27"/>
          <p:cNvSpPr/>
          <p:nvPr/>
        </p:nvSpPr>
        <p:spPr>
          <a:xfrm>
            <a:off x="2515239" y="4124399"/>
            <a:ext cx="7400843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 unified digital platform is required to connect plant management, automated </a:t>
            </a:r>
          </a:p>
          <a:p>
            <a:pPr>
              <a:lnSpc>
                <a:spcPts val="2160"/>
              </a:lnSpc>
            </a:pPr>
            <a:r>
              <a:rPr lang="en-US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scheduling, health records, environmental monitoring, expert consultation, and community interaction.</a:t>
            </a:r>
          </a:p>
        </p:txBody>
      </p:sp>
      <p:sp>
        <p:nvSpPr>
          <p:cNvPr id="30" name="Text 28"/>
          <p:cNvSpPr/>
          <p:nvPr/>
        </p:nvSpPr>
        <p:spPr>
          <a:xfrm>
            <a:off x="2377380" y="4785643"/>
            <a:ext cx="29715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04594" y="4762946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-64071" y="1633203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-4093" y="1599456"/>
            <a:ext cx="96204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4529" y="341969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276225"/>
            <a:ext cx="114642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581174"/>
            <a:ext cx="2089912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2450" b="1" kern="0" spc="-4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2450" dirty="0"/>
          </a:p>
        </p:txBody>
      </p:sp>
      <p:sp>
        <p:nvSpPr>
          <p:cNvPr id="20" name="Shape 18"/>
          <p:cNvSpPr/>
          <p:nvPr/>
        </p:nvSpPr>
        <p:spPr>
          <a:xfrm>
            <a:off x="2376301" y="1173249"/>
            <a:ext cx="52388" cy="52388"/>
          </a:xfrm>
          <a:prstGeom prst="roundRect">
            <a:avLst>
              <a:gd name="adj" fmla="val 18182"/>
            </a:avLst>
          </a:prstGeom>
          <a:solidFill>
            <a:srgbClr val="9ECE6A"/>
          </a:solidFill>
          <a:ln/>
        </p:spPr>
      </p:sp>
      <p:sp>
        <p:nvSpPr>
          <p:cNvPr id="21" name="Text 19"/>
          <p:cNvSpPr/>
          <p:nvPr/>
        </p:nvSpPr>
        <p:spPr>
          <a:xfrm>
            <a:off x="2518990" y="1142777"/>
            <a:ext cx="3540502" cy="114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build a secure,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REST API as the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foundation for the Plant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Scheduler</a:t>
            </a:r>
            <a:endParaRPr lang="en-US" sz="1370" dirty="0"/>
          </a:p>
        </p:txBody>
      </p:sp>
      <p:sp>
        <p:nvSpPr>
          <p:cNvPr id="22" name="Shape 20"/>
          <p:cNvSpPr/>
          <p:nvPr/>
        </p:nvSpPr>
        <p:spPr>
          <a:xfrm>
            <a:off x="2376301" y="2417973"/>
            <a:ext cx="52388" cy="52388"/>
          </a:xfrm>
          <a:prstGeom prst="roundRect">
            <a:avLst>
              <a:gd name="adj" fmla="val 18182"/>
            </a:avLst>
          </a:prstGeom>
          <a:solidFill>
            <a:srgbClr val="9ECE6A"/>
          </a:solidFill>
          <a:ln/>
        </p:spPr>
      </p:sp>
      <p:sp>
        <p:nvSpPr>
          <p:cNvPr id="23" name="Text 21"/>
          <p:cNvSpPr/>
          <p:nvPr/>
        </p:nvSpPr>
        <p:spPr>
          <a:xfrm>
            <a:off x="2518990" y="2387501"/>
            <a:ext cx="3555013" cy="138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the core domain — Users,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Plants, Species, Care Tasks,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Records, Environment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Notifications, Community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Posts, Comments, and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Consultations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2376301" y="3897250"/>
            <a:ext cx="52388" cy="52388"/>
          </a:xfrm>
          <a:prstGeom prst="roundRect">
            <a:avLst>
              <a:gd name="adj" fmla="val 18182"/>
            </a:avLst>
          </a:prstGeom>
          <a:solidFill>
            <a:srgbClr val="9ECE6A"/>
          </a:solidFill>
          <a:ln/>
        </p:spPr>
      </p:sp>
      <p:sp>
        <p:nvSpPr>
          <p:cNvPr id="25" name="Text 23"/>
          <p:cNvSpPr/>
          <p:nvPr/>
        </p:nvSpPr>
        <p:spPr>
          <a:xfrm>
            <a:off x="2518990" y="3866778"/>
            <a:ext cx="3536536" cy="913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full CRUD operations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domain entity through a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Controller -&gt; Service -&gt;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architecture</a:t>
            </a:r>
            <a:endParaRPr lang="en-US" sz="1370" dirty="0"/>
          </a:p>
        </p:txBody>
      </p:sp>
      <p:sp>
        <p:nvSpPr>
          <p:cNvPr id="26" name="Shape 24"/>
          <p:cNvSpPr/>
          <p:nvPr/>
        </p:nvSpPr>
        <p:spPr>
          <a:xfrm>
            <a:off x="5691001" y="1173249"/>
            <a:ext cx="52388" cy="52388"/>
          </a:xfrm>
          <a:prstGeom prst="roundRect">
            <a:avLst>
              <a:gd name="adj" fmla="val 18182"/>
            </a:avLst>
          </a:prstGeom>
          <a:solidFill>
            <a:srgbClr val="9ECE6A"/>
          </a:solidFill>
          <a:ln/>
        </p:spPr>
      </p:sp>
      <p:sp>
        <p:nvSpPr>
          <p:cNvPr id="27" name="Text 25"/>
          <p:cNvSpPr/>
          <p:nvPr/>
        </p:nvSpPr>
        <p:spPr>
          <a:xfrm>
            <a:off x="5833690" y="1142777"/>
            <a:ext cx="3004572" cy="913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data integrity with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(Jakarta Bean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Validation) and DTO-based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request/response contracts</a:t>
            </a:r>
            <a:endParaRPr lang="en-US" sz="1370" dirty="0"/>
          </a:p>
        </p:txBody>
      </p:sp>
      <p:sp>
        <p:nvSpPr>
          <p:cNvPr id="28" name="Shape 26"/>
          <p:cNvSpPr/>
          <p:nvPr/>
        </p:nvSpPr>
        <p:spPr>
          <a:xfrm>
            <a:off x="5691001" y="2183420"/>
            <a:ext cx="52388" cy="52388"/>
          </a:xfrm>
          <a:prstGeom prst="roundRect">
            <a:avLst>
              <a:gd name="adj" fmla="val 18182"/>
            </a:avLst>
          </a:prstGeom>
          <a:solidFill>
            <a:srgbClr val="9ECE6A"/>
          </a:solidFill>
          <a:ln/>
        </p:spPr>
      </p:sp>
      <p:sp>
        <p:nvSpPr>
          <p:cNvPr id="29" name="Text 27"/>
          <p:cNvSpPr/>
          <p:nvPr/>
        </p:nvSpPr>
        <p:spPr>
          <a:xfrm>
            <a:off x="5833690" y="2152948"/>
            <a:ext cx="3747812" cy="114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 the groundwork for automated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scheduling, health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monitoring, environmental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tracking, and specialist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features</a:t>
            </a:r>
            <a:endParaRPr lang="en-US" sz="1370" dirty="0"/>
          </a:p>
        </p:txBody>
      </p:sp>
      <p:sp>
        <p:nvSpPr>
          <p:cNvPr id="30" name="Shape 28"/>
          <p:cNvSpPr/>
          <p:nvPr/>
        </p:nvSpPr>
        <p:spPr>
          <a:xfrm>
            <a:off x="5691001" y="3428144"/>
            <a:ext cx="52388" cy="52388"/>
          </a:xfrm>
          <a:prstGeom prst="roundRect">
            <a:avLst>
              <a:gd name="adj" fmla="val 18182"/>
            </a:avLst>
          </a:prstGeom>
          <a:solidFill>
            <a:srgbClr val="9ECE6A"/>
          </a:solidFill>
          <a:ln/>
        </p:spPr>
      </p:sp>
      <p:sp>
        <p:nvSpPr>
          <p:cNvPr id="31" name="Text 29"/>
          <p:cNvSpPr/>
          <p:nvPr/>
        </p:nvSpPr>
        <p:spPr>
          <a:xfrm>
            <a:off x="5833690" y="3397672"/>
            <a:ext cx="3533730" cy="67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a maintainable, layered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codebase ready for frontend</a:t>
            </a:r>
            <a:endParaRPr lang="en-US" sz="1370" dirty="0"/>
          </a:p>
          <a:p>
            <a:pPr marL="0" indent="0" algn="l">
              <a:lnSpc>
                <a:spcPts val="1847"/>
              </a:lnSpc>
              <a:buNone/>
            </a:pPr>
            <a:r>
              <a:rPr lang="en-US" sz="1370" dirty="0">
                <a:solidFill>
                  <a:srgbClr val="C0CA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in the next phase</a:t>
            </a:r>
            <a:endParaRPr lang="en-US" sz="1370" dirty="0"/>
          </a:p>
        </p:txBody>
      </p:sp>
      <p:sp>
        <p:nvSpPr>
          <p:cNvPr id="32" name="Text 30"/>
          <p:cNvSpPr/>
          <p:nvPr/>
        </p:nvSpPr>
        <p:spPr>
          <a:xfrm>
            <a:off x="2377380" y="4841974"/>
            <a:ext cx="29918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04594" y="4819278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-64071" y="1890303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1" name="Text 9"/>
          <p:cNvSpPr/>
          <p:nvPr/>
        </p:nvSpPr>
        <p:spPr>
          <a:xfrm>
            <a:off x="-4093" y="1856556"/>
            <a:ext cx="216372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Requirements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11365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43244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269981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64529" y="2956917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4529" y="321401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484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67297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20403"/>
            <a:ext cx="682912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228"/>
              </a:spcAft>
              <a:buNone/>
            </a:pPr>
            <a:r>
              <a:rPr lang="en-US" sz="2090" b="1" kern="0" spc="-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Requirements — Core Modules</a:t>
            </a:r>
            <a:endParaRPr lang="en-US" sz="2090" dirty="0"/>
          </a:p>
        </p:txBody>
      </p:sp>
      <p:sp>
        <p:nvSpPr>
          <p:cNvPr id="20" name="Shape 18"/>
          <p:cNvSpPr/>
          <p:nvPr/>
        </p:nvSpPr>
        <p:spPr>
          <a:xfrm>
            <a:off x="2377157" y="1362745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7AA2F7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331690" y="1358950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7AA2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FR1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2724745" y="1386780"/>
            <a:ext cx="2593628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Authentication &amp;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Management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2724745" y="1971452"/>
            <a:ext cx="2488570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registration, role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assignment, profile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77157" y="2621235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9ECE6A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331690" y="2617440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9ECE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FR2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2724745" y="2645271"/>
            <a:ext cx="319282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2724745" y="2955578"/>
            <a:ext cx="3323808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distinct permissions for Owners,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Specialists, and Administrators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377157" y="3605361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E0AF68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331690" y="3601566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E0AF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FR3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2724745" y="3629397"/>
            <a:ext cx="2881037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Profile &amp; Collection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2724745" y="4214068"/>
            <a:ext cx="3206078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records linked to species,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owners, and care history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91857" y="1362745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7AA2F7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646390" y="1358950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7AA2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FR4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6064285" y="1239330"/>
            <a:ext cx="212028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Species Database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6048553" y="1581076"/>
            <a:ext cx="3367147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requirements and reference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 species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91857" y="2346871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9ECE6A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646390" y="2343076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9ECE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FR5</a:t>
            </a:r>
            <a:endParaRPr lang="en-US" sz="1440" dirty="0"/>
          </a:p>
        </p:txBody>
      </p:sp>
      <p:sp>
        <p:nvSpPr>
          <p:cNvPr id="38" name="Text 36"/>
          <p:cNvSpPr/>
          <p:nvPr/>
        </p:nvSpPr>
        <p:spPr>
          <a:xfrm>
            <a:off x="6034878" y="2248531"/>
            <a:ext cx="2769014" cy="493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Scheduling &amp; Task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</a:t>
            </a:r>
            <a:endParaRPr lang="en-US" sz="1440" dirty="0"/>
          </a:p>
        </p:txBody>
      </p:sp>
      <p:sp>
        <p:nvSpPr>
          <p:cNvPr id="39" name="Text 37"/>
          <p:cNvSpPr/>
          <p:nvPr/>
        </p:nvSpPr>
        <p:spPr>
          <a:xfrm>
            <a:off x="6034878" y="2827774"/>
            <a:ext cx="3393460" cy="68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create, update, and track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watering/fertilizing/pruning tasks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status and priority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91857" y="3852267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E0AF68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646390" y="3848472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E0AF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FR6</a:t>
            </a:r>
            <a:endParaRPr lang="en-US" sz="1440" dirty="0"/>
          </a:p>
        </p:txBody>
      </p:sp>
      <p:sp>
        <p:nvSpPr>
          <p:cNvPr id="42" name="Text 40"/>
          <p:cNvSpPr/>
          <p:nvPr/>
        </p:nvSpPr>
        <p:spPr>
          <a:xfrm>
            <a:off x="6048553" y="3794632"/>
            <a:ext cx="21192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Monitoring</a:t>
            </a:r>
            <a:endParaRPr lang="en-US" sz="1440" dirty="0"/>
          </a:p>
        </p:txBody>
      </p:sp>
      <p:sp>
        <p:nvSpPr>
          <p:cNvPr id="43" name="Text 41"/>
          <p:cNvSpPr/>
          <p:nvPr/>
        </p:nvSpPr>
        <p:spPr>
          <a:xfrm>
            <a:off x="6039445" y="4064744"/>
            <a:ext cx="2736607" cy="68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records capturing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condition, diagnosis, and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 history per plant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377380" y="4950023"/>
            <a:ext cx="30480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048553" y="4906140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-64071" y="1890303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1" name="Text 9"/>
          <p:cNvSpPr/>
          <p:nvPr/>
        </p:nvSpPr>
        <p:spPr>
          <a:xfrm>
            <a:off x="-4093" y="1856556"/>
            <a:ext cx="216372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Requirements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11365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43244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269981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64529" y="2956917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4529" y="321401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484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67297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20403"/>
            <a:ext cx="6112193" cy="716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32"/>
              </a:lnSpc>
              <a:buNone/>
            </a:pPr>
            <a:r>
              <a:rPr lang="en-US" sz="2090" b="1" kern="0" spc="-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Requirements — Extended</a:t>
            </a:r>
            <a:endParaRPr lang="en-US" sz="2090" dirty="0"/>
          </a:p>
          <a:p>
            <a:pPr marL="0" indent="0" algn="l">
              <a:lnSpc>
                <a:spcPts val="3132"/>
              </a:lnSpc>
              <a:buNone/>
            </a:pPr>
            <a:r>
              <a:rPr lang="en-US" sz="2090" b="1" kern="0" spc="-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</a:t>
            </a:r>
            <a:endParaRPr lang="en-US" sz="2090" dirty="0"/>
          </a:p>
        </p:txBody>
      </p:sp>
      <p:sp>
        <p:nvSpPr>
          <p:cNvPr id="20" name="Shape 18"/>
          <p:cNvSpPr/>
          <p:nvPr/>
        </p:nvSpPr>
        <p:spPr>
          <a:xfrm>
            <a:off x="2377157" y="1734889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7AA2F7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331690" y="1731094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7AA2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FR7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2724745" y="1758925"/>
            <a:ext cx="276940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Tracking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2724745" y="2069232"/>
            <a:ext cx="3319649" cy="68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 of light, temperature,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humidity, and soil condition data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plant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77157" y="2965921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9ECE6A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331690" y="2962126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9ECE6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FR8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2724745" y="2989957"/>
            <a:ext cx="270149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Consultation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2724745" y="3300264"/>
            <a:ext cx="3482749" cy="68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 requests and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linking specialists to plant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91857" y="1734889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E0AF68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646390" y="1731094"/>
            <a:ext cx="4850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E0AF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FR9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6039445" y="1758925"/>
            <a:ext cx="342393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&amp; Social Features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6039445" y="2069232"/>
            <a:ext cx="3434283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posts and threaded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 for knowledge sharing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91857" y="2719015"/>
            <a:ext cx="238125" cy="238125"/>
          </a:xfrm>
          <a:prstGeom prst="roundRect">
            <a:avLst>
              <a:gd name="adj" fmla="val 15360"/>
            </a:avLst>
          </a:prstGeom>
          <a:solidFill>
            <a:srgbClr val="7AA2F7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91547" y="2715220"/>
            <a:ext cx="62761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7AA2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FR10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6039445" y="2743051"/>
            <a:ext cx="231898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 System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6039445" y="3053358"/>
            <a:ext cx="3233745" cy="44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alerts and reminders</a:t>
            </a:r>
            <a:endParaRPr lang="en-US" sz="1300" dirty="0"/>
          </a:p>
          <a:p>
            <a:pPr marL="0" indent="0" algn="l">
              <a:lnSpc>
                <a:spcPts val="1944"/>
              </a:lnSpc>
              <a:buNone/>
            </a:pPr>
            <a:r>
              <a:rPr lang="en-US" sz="130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tied to users and care events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376934" y="4223221"/>
            <a:ext cx="6310312" cy="571500"/>
          </a:xfrm>
          <a:prstGeom prst="rect">
            <a:avLst/>
          </a:prstGeom>
          <a:ln/>
        </p:spPr>
      </p:sp>
      <p:sp>
        <p:nvSpPr>
          <p:cNvPr id="37" name="Text 35"/>
          <p:cNvSpPr/>
          <p:nvPr/>
        </p:nvSpPr>
        <p:spPr>
          <a:xfrm>
            <a:off x="2331690" y="4264074"/>
            <a:ext cx="807791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modules expose REST endpoints (Controller layer) backed by Service, Repository, and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5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Mapper layers with dedicated Request/Response DTOs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377380" y="4841602"/>
            <a:ext cx="29464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04594" y="4818906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4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6934" y="4223221"/>
            <a:ext cx="6310312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-64071" y="2353084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2" name="Text 10"/>
          <p:cNvSpPr/>
          <p:nvPr/>
        </p:nvSpPr>
        <p:spPr>
          <a:xfrm>
            <a:off x="56732" y="2330165"/>
            <a:ext cx="191278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4529" y="341969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09863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29928"/>
            <a:ext cx="4704554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2740" dirty="0"/>
          </a:p>
        </p:txBody>
      </p:sp>
      <p:sp>
        <p:nvSpPr>
          <p:cNvPr id="20" name="Shape 18"/>
          <p:cNvSpPr/>
          <p:nvPr/>
        </p:nvSpPr>
        <p:spPr>
          <a:xfrm>
            <a:off x="2274950" y="1298822"/>
            <a:ext cx="6396609" cy="3126393"/>
          </a:xfrm>
          <a:prstGeom prst="roundRect">
            <a:avLst>
              <a:gd name="adj" fmla="val 3386"/>
            </a:avLst>
          </a:prstGeom>
          <a:ln w="9525">
            <a:solidFill>
              <a:srgbClr val="7AA2F7">
                <a:alpha val="30000"/>
              </a:srgbClr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324733" y="1298822"/>
            <a:ext cx="6442963" cy="2880843"/>
          </a:xfrm>
          <a:prstGeom prst="rect">
            <a:avLst/>
          </a:prstGeom>
          <a:noFill/>
          <a:ln/>
        </p:spPr>
        <p:txBody>
          <a:bodyPr wrap="none" lIns="0" tIns="0" rIns="0" bIns="0" rtlCol="0" anchor="t" anchorCtr="0">
            <a:noAutofit/>
          </a:bodyPr>
          <a:lstStyle/>
          <a:p>
            <a:pPr marL="171450" indent="-1714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Inter"/>
              </a:rPr>
              <a:t>Implement Java Enums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to replace string-based fields, improving type safety, code readability,</a:t>
            </a: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chemeClr val="bg1"/>
                </a:solidFill>
                <a:latin typeface="Inter"/>
              </a:rPr>
              <a:t>      and data consistency. </a:t>
            </a:r>
          </a:p>
          <a:p>
            <a:pPr marL="171450" indent="-1714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Inter"/>
              </a:rPr>
              <a:t>Enable Image Upload Support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for Health Records using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MultipartFile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and integrate local </a:t>
            </a: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chemeClr val="bg1"/>
                </a:solidFill>
                <a:latin typeface="Inter"/>
              </a:rPr>
              <a:t>      or cloud-based image storage. </a:t>
            </a:r>
          </a:p>
          <a:p>
            <a:pPr marL="171450" indent="-1714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Inter"/>
              </a:rPr>
              <a:t>Integrate Email Notification Services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to send reminders for plant care tasks, consultations, </a:t>
            </a: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chemeClr val="bg1"/>
                </a:solidFill>
                <a:latin typeface="Inter"/>
              </a:rPr>
              <a:t>      and important account-related activities. </a:t>
            </a:r>
          </a:p>
          <a:p>
            <a:pPr marL="171450" indent="-1714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Inter"/>
              </a:rPr>
              <a:t>Automate Scheduled Operations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using Spring Scheduler for generating care tasks and sending </a:t>
            </a: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chemeClr val="bg1"/>
                </a:solidFill>
                <a:latin typeface="Inter"/>
              </a:rPr>
              <a:t>      timely reminders. </a:t>
            </a:r>
          </a:p>
          <a:p>
            <a:pPr marL="171450" indent="-1714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Inter"/>
              </a:rPr>
              <a:t>Enhance Search and Filtering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by introducing advanced search, filtering, sorting, and pagination for </a:t>
            </a:r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chemeClr val="bg1"/>
                </a:solidFill>
                <a:latin typeface="Inter"/>
              </a:rPr>
              <a:t>       improved user experience and scalability.</a:t>
            </a:r>
          </a:p>
        </p:txBody>
      </p:sp>
      <p:sp>
        <p:nvSpPr>
          <p:cNvPr id="23" name="Text 21"/>
          <p:cNvSpPr/>
          <p:nvPr/>
        </p:nvSpPr>
        <p:spPr>
          <a:xfrm>
            <a:off x="2377380" y="4555629"/>
            <a:ext cx="29977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04594" y="4604966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-64071" y="2939244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-4093" y="2905497"/>
            <a:ext cx="163485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4529" y="341969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15812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25165"/>
            <a:ext cx="567251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Entity-Relationship Diagram</a:t>
            </a:r>
            <a:endParaRPr lang="en-US" sz="2590" dirty="0"/>
          </a:p>
        </p:txBody>
      </p:sp>
      <p:sp>
        <p:nvSpPr>
          <p:cNvPr id="20" name="Shape 18"/>
          <p:cNvSpPr/>
          <p:nvPr/>
        </p:nvSpPr>
        <p:spPr>
          <a:xfrm>
            <a:off x="2376934" y="1381274"/>
            <a:ext cx="6310312" cy="2728913"/>
          </a:xfrm>
          <a:prstGeom prst="roundRect">
            <a:avLst>
              <a:gd name="adj" fmla="val 3351"/>
            </a:avLst>
          </a:prstGeom>
          <a:ln w="9525">
            <a:solidFill>
              <a:srgbClr val="7AA2F7">
                <a:alpha val="30000"/>
              </a:srgbClr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83244" y="2646090"/>
            <a:ext cx="189769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ER Diagram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6250" y="4803855"/>
            <a:ext cx="28487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57888" y="4790948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2218A07-8C92-853A-9E8E-C8186BF06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119" y="1234890"/>
            <a:ext cx="6367127" cy="34225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093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-64071" y="3196344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5" name="Text 13"/>
          <p:cNvSpPr/>
          <p:nvPr/>
        </p:nvSpPr>
        <p:spPr>
          <a:xfrm>
            <a:off x="-4093" y="3162598"/>
            <a:ext cx="96919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64529" y="341969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148780" y="179696"/>
            <a:ext cx="115812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48780" y="422560"/>
            <a:ext cx="4197355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Diagram</a:t>
            </a:r>
            <a:endParaRPr lang="en-US" sz="2740" dirty="0"/>
          </a:p>
        </p:txBody>
      </p:sp>
      <p:sp>
        <p:nvSpPr>
          <p:cNvPr id="23" name="Text 21"/>
          <p:cNvSpPr/>
          <p:nvPr/>
        </p:nvSpPr>
        <p:spPr>
          <a:xfrm>
            <a:off x="2315965" y="4741557"/>
            <a:ext cx="29967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23209" y="4698802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A7A94E9-51FB-81DC-BA06-1C75FD1C9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327" y="846422"/>
            <a:ext cx="7108789" cy="40713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A17E-9454-C0BD-1ACE-787BC1E5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1A6196-9005-10AB-7CD0-C0AE999A6ABB}"/>
              </a:ext>
            </a:extLst>
          </p:cNvPr>
          <p:cNvSpPr/>
          <p:nvPr/>
        </p:nvSpPr>
        <p:spPr>
          <a:xfrm>
            <a:off x="-4093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DE1369-5B99-4B7C-1147-3086E8A2642E}"/>
              </a:ext>
            </a:extLst>
          </p:cNvPr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6A6AFF-16E0-C54E-71FD-F9103813818D}"/>
              </a:ext>
            </a:extLst>
          </p:cNvPr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872C45-2DCD-52E0-E5D5-B2F7AB872434}"/>
              </a:ext>
            </a:extLst>
          </p:cNvPr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75071E-E622-3524-79C0-060C190FE870}"/>
              </a:ext>
            </a:extLst>
          </p:cNvPr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B21CD7-9EAD-6D52-AD74-5EE0D3BD550F}"/>
              </a:ext>
            </a:extLst>
          </p:cNvPr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A7497D-CBCE-1AE0-7053-11DBAED77FDF}"/>
              </a:ext>
            </a:extLst>
          </p:cNvPr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1D8E18-4B0B-ADAD-6DCE-FC4427EDBD79}"/>
              </a:ext>
            </a:extLst>
          </p:cNvPr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3DC6109-23BB-FC1F-97D7-50E179CD9E60}"/>
              </a:ext>
            </a:extLst>
          </p:cNvPr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28DA5E-4B1F-EB93-CB3E-4EF67DFDDA55}"/>
              </a:ext>
            </a:extLst>
          </p:cNvPr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19B5209-2A51-AB12-5246-37363B756046}"/>
              </a:ext>
            </a:extLst>
          </p:cNvPr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4A1838-F161-4DE3-7E48-F91EB5E9F29A}"/>
              </a:ext>
            </a:extLst>
          </p:cNvPr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E26D373-4B34-5E1C-D88D-A5846EA27C71}"/>
              </a:ext>
            </a:extLst>
          </p:cNvPr>
          <p:cNvSpPr/>
          <p:nvPr/>
        </p:nvSpPr>
        <p:spPr>
          <a:xfrm>
            <a:off x="-64071" y="3196344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BBD01C9-EEE5-BEE5-9E08-63F5F1B1F54B}"/>
              </a:ext>
            </a:extLst>
          </p:cNvPr>
          <p:cNvSpPr/>
          <p:nvPr/>
        </p:nvSpPr>
        <p:spPr>
          <a:xfrm>
            <a:off x="-4093" y="3162598"/>
            <a:ext cx="96919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125959F-FDCF-3105-3ED6-C768F9A459CE}"/>
              </a:ext>
            </a:extLst>
          </p:cNvPr>
          <p:cNvSpPr/>
          <p:nvPr/>
        </p:nvSpPr>
        <p:spPr>
          <a:xfrm>
            <a:off x="164529" y="3419698"/>
            <a:ext cx="175210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08C58A2-72C0-969A-0472-5A26B3B0B74B}"/>
              </a:ext>
            </a:extLst>
          </p:cNvPr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95D1CE-FC43-723F-726F-180D7BC144EC}"/>
              </a:ext>
            </a:extLst>
          </p:cNvPr>
          <p:cNvSpPr/>
          <p:nvPr/>
        </p:nvSpPr>
        <p:spPr>
          <a:xfrm>
            <a:off x="2148780" y="179696"/>
            <a:ext cx="115812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19FA7FC-121C-6AF2-81B7-2CE59E86CD9C}"/>
              </a:ext>
            </a:extLst>
          </p:cNvPr>
          <p:cNvSpPr/>
          <p:nvPr/>
        </p:nvSpPr>
        <p:spPr>
          <a:xfrm>
            <a:off x="2148780" y="422560"/>
            <a:ext cx="4197355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Diagram</a:t>
            </a:r>
            <a:endParaRPr lang="en-US" sz="274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A696DBE-F98C-1773-1F1C-A01E1B86D691}"/>
              </a:ext>
            </a:extLst>
          </p:cNvPr>
          <p:cNvSpPr/>
          <p:nvPr/>
        </p:nvSpPr>
        <p:spPr>
          <a:xfrm>
            <a:off x="2315965" y="4741557"/>
            <a:ext cx="29967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B3D3D6-C479-5D70-E59B-018460856540}"/>
              </a:ext>
            </a:extLst>
          </p:cNvPr>
          <p:cNvSpPr/>
          <p:nvPr/>
        </p:nvSpPr>
        <p:spPr>
          <a:xfrm>
            <a:off x="5723209" y="4698802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8BDFA0C8-9F80-15E2-9F98-B5B0D6BBD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FBE1C3-EFCF-4D5E-228A-F06F9A45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327" y="901229"/>
            <a:ext cx="7024855" cy="361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7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-64071" y="3453445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6" name="Text 14"/>
          <p:cNvSpPr/>
          <p:nvPr/>
        </p:nvSpPr>
        <p:spPr>
          <a:xfrm>
            <a:off x="-4093" y="3419698"/>
            <a:ext cx="17734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15812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29928"/>
            <a:ext cx="3872605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Management Activity Diagram </a:t>
            </a:r>
            <a:endParaRPr lang="en-US" sz="2740" dirty="0"/>
          </a:p>
        </p:txBody>
      </p:sp>
      <p:sp>
        <p:nvSpPr>
          <p:cNvPr id="20" name="Shape 18"/>
          <p:cNvSpPr/>
          <p:nvPr/>
        </p:nvSpPr>
        <p:spPr>
          <a:xfrm>
            <a:off x="2376934" y="1409216"/>
            <a:ext cx="6310312" cy="2700338"/>
          </a:xfrm>
          <a:prstGeom prst="roundRect">
            <a:avLst>
              <a:gd name="adj" fmla="val 3386"/>
            </a:avLst>
          </a:prstGeom>
          <a:ln w="9525">
            <a:solidFill>
              <a:srgbClr val="E0AF68">
                <a:alpha val="30000"/>
              </a:srgbClr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377380" y="4555629"/>
            <a:ext cx="29977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04594" y="4532933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CACB79-D9C3-5F27-661F-2A8F7B713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030" y="1285205"/>
            <a:ext cx="6706882" cy="3128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-64071" y="3453445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6" name="Text 14"/>
          <p:cNvSpPr/>
          <p:nvPr/>
        </p:nvSpPr>
        <p:spPr>
          <a:xfrm>
            <a:off x="-4093" y="3419698"/>
            <a:ext cx="17734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15812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29928"/>
            <a:ext cx="3920877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Care-Task Activity diagram </a:t>
            </a:r>
            <a:endParaRPr lang="en-US" sz="2740" dirty="0"/>
          </a:p>
        </p:txBody>
      </p:sp>
      <p:sp>
        <p:nvSpPr>
          <p:cNvPr id="20" name="Shape 18"/>
          <p:cNvSpPr/>
          <p:nvPr/>
        </p:nvSpPr>
        <p:spPr>
          <a:xfrm>
            <a:off x="2376934" y="1409216"/>
            <a:ext cx="6310312" cy="2700338"/>
          </a:xfrm>
          <a:prstGeom prst="roundRect">
            <a:avLst>
              <a:gd name="adj" fmla="val 3386"/>
            </a:avLst>
          </a:prstGeom>
          <a:ln w="9525">
            <a:solidFill>
              <a:srgbClr val="E0AF68">
                <a:alpha val="30000"/>
              </a:srgbClr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377380" y="4555629"/>
            <a:ext cx="25894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04594" y="4532933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7CED38-C601-4CEC-9073-A79DFC1B9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674" y="1277397"/>
            <a:ext cx="6781398" cy="3136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38A5-D5CE-4890-5477-701AF9E19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8E115E-10D1-2030-44C2-934E84CAB7C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41F64E-AC48-82A2-D235-67AA8104676F}"/>
              </a:ext>
            </a:extLst>
          </p:cNvPr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682C07-45F3-6A7D-BDDF-416E0DE9CB79}"/>
              </a:ext>
            </a:extLst>
          </p:cNvPr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AA240E-3969-4B80-D45F-90205DE38F0D}"/>
              </a:ext>
            </a:extLst>
          </p:cNvPr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572A4E1-CEBA-013A-3984-D18B25856720}"/>
              </a:ext>
            </a:extLst>
          </p:cNvPr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2A2098-72C6-B047-FF2C-C83CB1E90034}"/>
              </a:ext>
            </a:extLst>
          </p:cNvPr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CED87AA-8AEF-DA17-A940-4FDC454F97D0}"/>
              </a:ext>
            </a:extLst>
          </p:cNvPr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D7DD5B-DAB7-52EA-9652-B4F51B7E34F4}"/>
              </a:ext>
            </a:extLst>
          </p:cNvPr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0E3925-1CFB-00F3-DBE2-D53B065B79B7}"/>
              </a:ext>
            </a:extLst>
          </p:cNvPr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1CF8E5-FE00-6A72-91A3-1AFB345B4190}"/>
              </a:ext>
            </a:extLst>
          </p:cNvPr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CCC24C6-D5C0-BDC5-8FE9-05156808BA82}"/>
              </a:ext>
            </a:extLst>
          </p:cNvPr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098C18-F4E1-BFA3-23F4-2360A85D0C4E}"/>
              </a:ext>
            </a:extLst>
          </p:cNvPr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9BAB799-BF2F-502B-9219-B5281324B2CD}"/>
              </a:ext>
            </a:extLst>
          </p:cNvPr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0EDEB0B-502E-E531-586F-02AAE4868FCC}"/>
              </a:ext>
            </a:extLst>
          </p:cNvPr>
          <p:cNvSpPr/>
          <p:nvPr/>
        </p:nvSpPr>
        <p:spPr>
          <a:xfrm>
            <a:off x="-64071" y="3453445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7F918B0-BE7B-6B74-3743-85FFC71D1E40}"/>
              </a:ext>
            </a:extLst>
          </p:cNvPr>
          <p:cNvSpPr/>
          <p:nvPr/>
        </p:nvSpPr>
        <p:spPr>
          <a:xfrm>
            <a:off x="-4093" y="3419698"/>
            <a:ext cx="17734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E502E8D-02CA-3CE1-AA70-4C8DDCBE2289}"/>
              </a:ext>
            </a:extLst>
          </p:cNvPr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A56F1AD-367F-850D-2B2E-74AF31303EDB}"/>
              </a:ext>
            </a:extLst>
          </p:cNvPr>
          <p:cNvSpPr/>
          <p:nvPr/>
        </p:nvSpPr>
        <p:spPr>
          <a:xfrm>
            <a:off x="2377380" y="379065"/>
            <a:ext cx="115812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FF71B5-59B6-908B-3D2E-1B071A2A9B44}"/>
              </a:ext>
            </a:extLst>
          </p:cNvPr>
          <p:cNvSpPr/>
          <p:nvPr/>
        </p:nvSpPr>
        <p:spPr>
          <a:xfrm>
            <a:off x="2377380" y="729928"/>
            <a:ext cx="3920877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Post Activity diagram </a:t>
            </a:r>
            <a:endParaRPr lang="en-US" sz="274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BC3C0DE-5ED2-0C56-DFD9-A7B8D953BE44}"/>
              </a:ext>
            </a:extLst>
          </p:cNvPr>
          <p:cNvSpPr/>
          <p:nvPr/>
        </p:nvSpPr>
        <p:spPr>
          <a:xfrm>
            <a:off x="2376934" y="1409216"/>
            <a:ext cx="6310312" cy="2700338"/>
          </a:xfrm>
          <a:prstGeom prst="roundRect">
            <a:avLst>
              <a:gd name="adj" fmla="val 3386"/>
            </a:avLst>
          </a:prstGeom>
          <a:ln w="9525">
            <a:solidFill>
              <a:srgbClr val="E0AF68">
                <a:alpha val="30000"/>
              </a:srgbClr>
            </a:solidFill>
            <a:prstDash val="dash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16EAF50-9036-6450-20D9-BD9F4A3635C8}"/>
              </a:ext>
            </a:extLst>
          </p:cNvPr>
          <p:cNvSpPr/>
          <p:nvPr/>
        </p:nvSpPr>
        <p:spPr>
          <a:xfrm>
            <a:off x="2377380" y="4555629"/>
            <a:ext cx="25894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A19DDF5-C51E-0336-56AB-412804CA3ABA}"/>
              </a:ext>
            </a:extLst>
          </p:cNvPr>
          <p:cNvSpPr/>
          <p:nvPr/>
        </p:nvSpPr>
        <p:spPr>
          <a:xfrm>
            <a:off x="5204594" y="4532933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EB440D68-576B-1EBD-11A6-0E24DAB5A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B98ACE9-4BF1-3A0D-DF88-D5DEC7CC3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090" y="1409216"/>
            <a:ext cx="7046000" cy="278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55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-64071" y="3453445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6" name="Text 14"/>
          <p:cNvSpPr/>
          <p:nvPr/>
        </p:nvSpPr>
        <p:spPr>
          <a:xfrm>
            <a:off x="-4093" y="3419698"/>
            <a:ext cx="17734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377380" y="379065"/>
            <a:ext cx="115812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380" y="729928"/>
            <a:ext cx="4083784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Diagram</a:t>
            </a:r>
            <a:endParaRPr lang="en-US" sz="2740" dirty="0"/>
          </a:p>
        </p:txBody>
      </p:sp>
      <p:sp>
        <p:nvSpPr>
          <p:cNvPr id="20" name="Shape 18"/>
          <p:cNvSpPr/>
          <p:nvPr/>
        </p:nvSpPr>
        <p:spPr>
          <a:xfrm>
            <a:off x="2376934" y="1409216"/>
            <a:ext cx="6310312" cy="2700338"/>
          </a:xfrm>
          <a:prstGeom prst="roundRect">
            <a:avLst>
              <a:gd name="adj" fmla="val 3386"/>
            </a:avLst>
          </a:prstGeom>
          <a:ln w="9525">
            <a:solidFill>
              <a:srgbClr val="7AA2F7">
                <a:alpha val="30000"/>
              </a:srgbClr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377380" y="4555629"/>
            <a:ext cx="21502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04594" y="4532933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BE00696-52CB-0B58-C9EA-E53AE4570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445" y="1342354"/>
            <a:ext cx="6525185" cy="2895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79C9-F8A7-D2E0-5799-C773DE707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124EC6-C1B3-7793-1E48-8C07BB72BC6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F6A00A-D336-3A2C-8433-3FFF3128A4F3}"/>
              </a:ext>
            </a:extLst>
          </p:cNvPr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AEA54C-7495-1BB1-E2A9-CA9DD94A248B}"/>
              </a:ext>
            </a:extLst>
          </p:cNvPr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BACF5A-7619-DA75-BFCA-2472738CC3CD}"/>
              </a:ext>
            </a:extLst>
          </p:cNvPr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47BFF0B-585F-C66E-4C13-2AAB01F65FA0}"/>
              </a:ext>
            </a:extLst>
          </p:cNvPr>
          <p:cNvSpPr/>
          <p:nvPr/>
        </p:nvSpPr>
        <p:spPr>
          <a:xfrm>
            <a:off x="164529" y="817885"/>
            <a:ext cx="8037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0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A832A0-10E5-8BB3-118A-0C9E2062A5BF}"/>
              </a:ext>
            </a:extLst>
          </p:cNvPr>
          <p:cNvSpPr/>
          <p:nvPr/>
        </p:nvSpPr>
        <p:spPr>
          <a:xfrm>
            <a:off x="164529" y="1085255"/>
            <a:ext cx="8540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08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E9C044-ECA2-C61E-0065-9AFC03ABEAEA}"/>
              </a:ext>
            </a:extLst>
          </p:cNvPr>
          <p:cNvSpPr/>
          <p:nvPr/>
        </p:nvSpPr>
        <p:spPr>
          <a:xfrm>
            <a:off x="164529" y="1342355"/>
            <a:ext cx="166271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08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008A91-76FA-9B98-33F7-543C77DCEC29}"/>
              </a:ext>
            </a:extLst>
          </p:cNvPr>
          <p:cNvSpPr/>
          <p:nvPr/>
        </p:nvSpPr>
        <p:spPr>
          <a:xfrm>
            <a:off x="164529" y="1599456"/>
            <a:ext cx="9479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08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193A96-03A0-14C0-B14B-ACD7B3E459BD}"/>
              </a:ext>
            </a:extLst>
          </p:cNvPr>
          <p:cNvSpPr/>
          <p:nvPr/>
        </p:nvSpPr>
        <p:spPr>
          <a:xfrm>
            <a:off x="164529" y="1856556"/>
            <a:ext cx="1215301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</a:t>
            </a:r>
            <a:endParaRPr lang="en-US" sz="108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B51684-0338-D641-EF44-856BAF7C3DA8}"/>
              </a:ext>
            </a:extLst>
          </p:cNvPr>
          <p:cNvSpPr/>
          <p:nvPr/>
        </p:nvSpPr>
        <p:spPr>
          <a:xfrm>
            <a:off x="164529" y="2319337"/>
            <a:ext cx="188918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8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A1E7A3-CE4B-3B93-E54A-98D8451F853E}"/>
              </a:ext>
            </a:extLst>
          </p:cNvPr>
          <p:cNvSpPr/>
          <p:nvPr/>
        </p:nvSpPr>
        <p:spPr>
          <a:xfrm>
            <a:off x="164529" y="2638127"/>
            <a:ext cx="10892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54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08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678939F-08D7-F481-C1B0-18B86C8515BF}"/>
              </a:ext>
            </a:extLst>
          </p:cNvPr>
          <p:cNvSpPr/>
          <p:nvPr/>
        </p:nvSpPr>
        <p:spPr>
          <a:xfrm>
            <a:off x="164529" y="2905497"/>
            <a:ext cx="160834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Relationship</a:t>
            </a:r>
            <a:endParaRPr lang="en-US" sz="108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B600C86-6E48-3CD6-E660-C9992C4FFD86}"/>
              </a:ext>
            </a:extLst>
          </p:cNvPr>
          <p:cNvSpPr/>
          <p:nvPr/>
        </p:nvSpPr>
        <p:spPr>
          <a:xfrm>
            <a:off x="164529" y="3162598"/>
            <a:ext cx="96358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8E95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 Class</a:t>
            </a:r>
            <a:endParaRPr lang="en-US" sz="108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D2361B4-5F28-46F2-A8DE-4405D409815F}"/>
              </a:ext>
            </a:extLst>
          </p:cNvPr>
          <p:cNvSpPr/>
          <p:nvPr/>
        </p:nvSpPr>
        <p:spPr>
          <a:xfrm>
            <a:off x="-64071" y="3453445"/>
            <a:ext cx="14288" cy="100013"/>
          </a:xfrm>
          <a:prstGeom prst="roundRect">
            <a:avLst>
              <a:gd name="adj" fmla="val 49998"/>
            </a:avLst>
          </a:prstGeom>
          <a:solidFill>
            <a:srgbClr val="7AA2F7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EC037A0-CC9A-801F-28B0-D8CCC9830DC3}"/>
              </a:ext>
            </a:extLst>
          </p:cNvPr>
          <p:cNvSpPr/>
          <p:nvPr/>
        </p:nvSpPr>
        <p:spPr>
          <a:xfrm>
            <a:off x="-4093" y="3419698"/>
            <a:ext cx="17734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 &amp; Sequence</a:t>
            </a:r>
            <a:endParaRPr lang="en-US" sz="108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02DFA8-64D4-4237-6DE8-9861036F0D90}"/>
              </a:ext>
            </a:extLst>
          </p:cNvPr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C7F827D-A6E0-0E50-6DC5-07BAB28888D6}"/>
              </a:ext>
            </a:extLst>
          </p:cNvPr>
          <p:cNvSpPr/>
          <p:nvPr/>
        </p:nvSpPr>
        <p:spPr>
          <a:xfrm>
            <a:off x="2377380" y="379065"/>
            <a:ext cx="115812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DIAGRAMS</a:t>
            </a:r>
            <a:endParaRPr lang="en-US" sz="11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72F01CC-D7AD-64E0-3F79-D34D041BA858}"/>
              </a:ext>
            </a:extLst>
          </p:cNvPr>
          <p:cNvSpPr/>
          <p:nvPr/>
        </p:nvSpPr>
        <p:spPr>
          <a:xfrm>
            <a:off x="2377380" y="729928"/>
            <a:ext cx="4083784" cy="4238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740" b="1" kern="0" spc="-5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Sequence Diagram</a:t>
            </a:r>
            <a:endParaRPr lang="en-US" sz="274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94F916C-9EAE-EE68-AC87-A749BF97F62B}"/>
              </a:ext>
            </a:extLst>
          </p:cNvPr>
          <p:cNvSpPr/>
          <p:nvPr/>
        </p:nvSpPr>
        <p:spPr>
          <a:xfrm>
            <a:off x="2376934" y="1409216"/>
            <a:ext cx="6310312" cy="2700338"/>
          </a:xfrm>
          <a:prstGeom prst="roundRect">
            <a:avLst>
              <a:gd name="adj" fmla="val 3386"/>
            </a:avLst>
          </a:prstGeom>
          <a:ln w="9525">
            <a:solidFill>
              <a:srgbClr val="7AA2F7">
                <a:alpha val="30000"/>
              </a:srgbClr>
            </a:solidFill>
            <a:prstDash val="dash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80CB05F-9101-705E-9639-9FFCC18E5A36}"/>
              </a:ext>
            </a:extLst>
          </p:cNvPr>
          <p:cNvSpPr/>
          <p:nvPr/>
        </p:nvSpPr>
        <p:spPr>
          <a:xfrm>
            <a:off x="2376934" y="4755849"/>
            <a:ext cx="21502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93EE764-5CB4-7511-F38B-C4EE5BA87095}"/>
              </a:ext>
            </a:extLst>
          </p:cNvPr>
          <p:cNvSpPr/>
          <p:nvPr/>
        </p:nvSpPr>
        <p:spPr>
          <a:xfrm>
            <a:off x="5204594" y="4759781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78B082BA-EE99-9341-0CF5-CC3D654CC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12B6CE-B412-8905-D572-06AA54C0A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380" y="1153789"/>
            <a:ext cx="6374942" cy="346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02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7ABA9-B68B-2CED-C390-C3DF7552A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9A2864-2938-56C6-A949-45DDF14E01B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B2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9092E9-6568-5339-F467-B62E425EE2CD}"/>
              </a:ext>
            </a:extLst>
          </p:cNvPr>
          <p:cNvSpPr/>
          <p:nvPr/>
        </p:nvSpPr>
        <p:spPr>
          <a:xfrm>
            <a:off x="446" y="0"/>
            <a:ext cx="1919287" cy="5143500"/>
          </a:xfrm>
          <a:prstGeom prst="rect">
            <a:avLst/>
          </a:prstGeom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CA1906-0C5C-CF24-008F-948677E91E70}"/>
              </a:ext>
            </a:extLst>
          </p:cNvPr>
          <p:cNvSpPr/>
          <p:nvPr/>
        </p:nvSpPr>
        <p:spPr>
          <a:xfrm>
            <a:off x="165385" y="360834"/>
            <a:ext cx="119062" cy="128588"/>
          </a:xfrm>
          <a:prstGeom prst="roundRect">
            <a:avLst>
              <a:gd name="adj" fmla="val 23040"/>
            </a:avLst>
          </a:prstGeom>
          <a:solidFill>
            <a:srgbClr val="7AA2F7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4E421B-42FB-0943-92A9-869AA9705351}"/>
              </a:ext>
            </a:extLst>
          </p:cNvPr>
          <p:cNvSpPr/>
          <p:nvPr/>
        </p:nvSpPr>
        <p:spPr>
          <a:xfrm>
            <a:off x="349300" y="224730"/>
            <a:ext cx="1003444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Scheduler</a:t>
            </a:r>
            <a:endParaRPr lang="en-US" sz="11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7664054-434C-FD11-9899-6A4999639FAF}"/>
              </a:ext>
            </a:extLst>
          </p:cNvPr>
          <p:cNvSpPr/>
          <p:nvPr/>
        </p:nvSpPr>
        <p:spPr>
          <a:xfrm>
            <a:off x="164529" y="4751189"/>
            <a:ext cx="139891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865"/>
              </a:spcBef>
              <a:buNone/>
            </a:pPr>
            <a:r>
              <a:rPr lang="en-US" sz="108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I • 2026</a:t>
            </a:r>
            <a:endParaRPr lang="en-US" sz="108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79634B-6D79-A632-DA1B-C2F64B49A050}"/>
              </a:ext>
            </a:extLst>
          </p:cNvPr>
          <p:cNvSpPr/>
          <p:nvPr/>
        </p:nvSpPr>
        <p:spPr>
          <a:xfrm>
            <a:off x="1919733" y="278989"/>
            <a:ext cx="3370277" cy="287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TESTCASE - PORTAL</a:t>
            </a:r>
            <a:r>
              <a:rPr lang="en-US" sz="1150" b="1" kern="0" spc="58" dirty="0">
                <a:solidFill>
                  <a:srgbClr val="7AA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1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3CF2616-1D7C-A7D5-378C-D1BC75C26547}"/>
              </a:ext>
            </a:extLst>
          </p:cNvPr>
          <p:cNvSpPr/>
          <p:nvPr/>
        </p:nvSpPr>
        <p:spPr>
          <a:xfrm>
            <a:off x="2376934" y="4755849"/>
            <a:ext cx="21502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AFDBBBF-1D64-1479-0897-CF851847C922}"/>
              </a:ext>
            </a:extLst>
          </p:cNvPr>
          <p:cNvSpPr/>
          <p:nvPr/>
        </p:nvSpPr>
        <p:spPr>
          <a:xfrm>
            <a:off x="5204594" y="4759781"/>
            <a:ext cx="458401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5F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Care Scheduler — Project Review I</a:t>
            </a:r>
            <a:endParaRPr lang="en-US" sz="144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F602F1C-FAD9-3930-A043-472EA5B66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" y="0"/>
            <a:ext cx="1919287" cy="51435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9E485F3-5BAF-22ED-DB56-3ABE0B29E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988" y="620390"/>
            <a:ext cx="7147561" cy="402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11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1088</Words>
  <Application>Microsoft Office PowerPoint</Application>
  <PresentationFormat>On-screen Show (16:9)</PresentationFormat>
  <Paragraphs>383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DM Mono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SUCHITRA K M</cp:lastModifiedBy>
  <cp:revision>9</cp:revision>
  <dcterms:created xsi:type="dcterms:W3CDTF">2026-07-14T16:00:29Z</dcterms:created>
  <dcterms:modified xsi:type="dcterms:W3CDTF">2026-07-22T08:17:33Z</dcterms:modified>
</cp:coreProperties>
</file>